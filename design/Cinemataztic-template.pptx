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Default Extension="png" ContentType="image/pn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1695" cy="6858000"/>
  <p:notesSz cx="6858000" cy="9144000"/>
  <p:defaultTextStyle>
    <a:defPPr>
      <a:defRPr lang="en-GB"/>
    </a:def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gridSpacing cx="76200" cy="76200"/>
</p:viewPr>
</file>

<file path=ppt/_rels/presentation.xml.rels><?xml version="1.0" encoding="UTF-8" standalone="yes"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theme" Target="theme/theme1.xml"/><Relationship Id="rId12" Type="http://schemas.openxmlformats.org/officeDocument/2006/relationships/presProps" Target="presProps.xml"/><Relationship Id="rId13" Type="http://schemas.openxmlformats.org/officeDocument/2006/relationships/viewProps" Target="viewProps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MeshDark" Type="http://schemas.openxmlformats.org/officeDocument/2006/relationships/image" Target="../media/mesh-dark.png"/><Relationship Id="rIdWordBlack" Type="http://schemas.openxmlformats.org/officeDocument/2006/relationships/image" Target="../media/wordmark-black.png"/></Relationships>
</file>

<file path=ppt/slideLayouts/_rels/slideLayout2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MeshDark" Type="http://schemas.openxmlformats.org/officeDocument/2006/relationships/image" Target="../media/mesh-dark.png"/><Relationship Id="rIdWordBlack" Type="http://schemas.openxmlformats.org/officeDocument/2006/relationships/image" Target="../media/wordmark-black.png"/></Relationships>
</file>

<file path=ppt/slideLayouts/_rels/slideLayout3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MeshDark" Type="http://schemas.openxmlformats.org/officeDocument/2006/relationships/image" Target="../media/mesh-dark.png"/><Relationship Id="rIdWordBlack" Type="http://schemas.openxmlformats.org/officeDocument/2006/relationships/image" Target="../media/wordmark-black.png"/></Relationships>
</file>

<file path=ppt/slideLayouts/_rels/slideLayout4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MeshDark" Type="http://schemas.openxmlformats.org/officeDocument/2006/relationships/image" Target="../media/mesh-dark.png"/><Relationship Id="rIdWordBlack" Type="http://schemas.openxmlformats.org/officeDocument/2006/relationships/image" Target="../media/wordmark-black.png"/></Relationships>
</file>

<file path=ppt/slideLayouts/_rels/slideLayout5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MeshDark" Type="http://schemas.openxmlformats.org/officeDocument/2006/relationships/image" Target="../media/mesh-dark.png"/><Relationship Id="rIdWordBlack" Type="http://schemas.openxmlformats.org/officeDocument/2006/relationships/image" Target="../media/wordmark-black.png"/></Relationships>
</file>

<file path=ppt/slideLayouts/_rels/slideLayout6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Word" Type="http://schemas.openxmlformats.org/officeDocument/2006/relationships/image" Target="../media/wordmark-white.png"/></Relationships>
</file>

<file path=ppt/slideLayouts/_rels/slideLayout7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Word" Type="http://schemas.openxmlformats.org/officeDocument/2006/relationships/image" Target="../media/wordmark-white.png"/></Relationships>
</file>

<file path=ppt/slideLayouts/_rels/slideLayout8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Word" Type="http://schemas.openxmlformats.org/officeDocument/2006/relationships/image" Target="../media/wordmark-white.png"/></Relationships>
</file>

<file path=ppt/slideLayouts/_rels/slideLayout9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MeshLight" Type="http://schemas.openxmlformats.org/officeDocument/2006/relationships/image" Target="../media/mesh-light.png"/><Relationship Id="rIdWord" Type="http://schemas.openxmlformats.org/officeDocument/2006/relationships/image" Target="../media/wordmark-white.png"/></Relationships>
</file>

<file path=ppt/slideLayouts/_rels/slideLayout10.xml.rels><?xml version="1.0" encoding="UTF-8" standalone="yes"?>
<Relationships xmlns="http://schemas.openxmlformats.org/package/2006/relationships"><Relationship Id="rId1" Type="http://schemas.openxmlformats.org/officeDocument/2006/relationships/slideMaster" Target="../slideMasters/slideMaster1.xml"/><Relationship Id="rIdWord" Type="http://schemas.openxmlformats.org/officeDocument/2006/relationships/image" Target="../media/wordmark-white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Title – Yellow">
    <p:bg>
      <p:bgPr>
        <a:solidFill>
          <a:srgbClr val="FECE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Network pattern" descr="Network pattern"/>
          <p:cNvPicPr>
            <a:picLocks noChangeAspect="1"/>
          </p:cNvPicPr>
          <p:nvPr/>
        </p:nvPicPr>
        <p:blipFill>
          <a:blip r:embed="rIdMeshDark">
            <a:alphaModFix amt="5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3" name="Cinemataztic wordmark" descr="Cinemataztic wordmark"/>
          <p:cNvPicPr>
            <a:picLocks noChangeAspect="1"/>
          </p:cNvPicPr>
          <p:nvPr/>
        </p:nvPicPr>
        <p:blipFill>
          <a:blip r:embed="rIdWordBlack"/>
          <a:stretch>
            <a:fillRect/>
          </a:stretch>
        </p:blipFill>
        <p:spPr>
          <a:xfrm>
            <a:off x="548640" y="457200"/>
            <a:ext cx="2248925" cy="230429"/>
          </a:xfrm>
          <a:prstGeom prst="rect">
            <a:avLst/>
          </a:prstGeom>
        </p:spPr>
      </p:pic>
      <p:sp>
        <p:nvSpPr>
          <p:cNvPr id="4" name="Label"/>
          <p:cNvSpPr>
            <a:spLocks noGrp="1"/>
          </p:cNvSpPr>
          <p:nvPr>
            <p:ph type="body" idx="10"/>
          </p:nvPr>
        </p:nvSpPr>
        <p:spPr>
          <a:xfrm>
            <a:off x="548640" y="1874520"/>
            <a:ext cx="822960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sz="1100" b="1" cap="all" spc="300">
                <a:solidFill>
                  <a:srgbClr val="0A0A0C"/>
                </a:solidFill>
                <a:latin typeface="+mn-lt"/>
              </a:defRPr>
            </a:lvl1pPr>
          </a:lstStyle>
          <a:p>
            <a:r>
              <a:rPr lang="en-GB" dirty="0"/>
              <a:t>SMALL LABEL</a:t>
            </a:r>
          </a:p>
        </p:txBody>
      </p:sp>
      <p:sp>
        <p:nvSpPr>
          <p:cNvPr id="5" name="Title"/>
          <p:cNvSpPr>
            <a:spLocks noGrp="1"/>
          </p:cNvSpPr>
          <p:nvPr>
            <p:ph type="title"/>
          </p:nvPr>
        </p:nvSpPr>
        <p:spPr>
          <a:xfrm>
            <a:off x="548640" y="2240280"/>
            <a:ext cx="10241280" cy="219456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88000"/>
              </a:lnSpc>
              <a:buNone/>
              <a:defRPr sz="6000" b="1" cap="all" spc="-100">
                <a:solidFill>
                  <a:srgbClr val="0A0A0C"/>
                </a:solidFill>
                <a:latin typeface="+mj-lt"/>
              </a:defRPr>
            </a:lvl1pPr>
          </a:lstStyle>
          <a:p>
            <a:r>
              <a:rPr lang="en-GB" dirty="0"/>
              <a:t>Big hero title</a:t>
            </a:r>
          </a:p>
        </p:txBody>
      </p:sp>
      <p:sp>
        <p:nvSpPr>
          <p:cNvPr id="6" name="Text"/>
          <p:cNvSpPr>
            <a:spLocks noGrp="1"/>
          </p:cNvSpPr>
          <p:nvPr>
            <p:ph type="body" idx="1"/>
          </p:nvPr>
        </p:nvSpPr>
        <p:spPr>
          <a:xfrm>
            <a:off x="548640" y="4572000"/>
            <a:ext cx="6583680" cy="9144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rgbClr val="0A0A0C"/>
                </a:solidFill>
                <a:latin typeface="+mn-lt"/>
              </a:defRPr>
            </a:lvl1pPr>
          </a:lstStyle>
          <a:p>
            <a:r>
              <a:rPr lang="en-GB" dirty="0"/>
              <a:t>One or two lines that say what this is about.</a:t>
            </a: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– Pink">
    <p:bg>
      <p:bgPr>
        <a:solidFill>
          <a:srgbClr val="F869B9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Network pattern" descr="Network pattern"/>
          <p:cNvPicPr>
            <a:picLocks noChangeAspect="1"/>
          </p:cNvPicPr>
          <p:nvPr/>
        </p:nvPicPr>
        <p:blipFill>
          <a:blip r:embed="rIdMeshDark">
            <a:alphaModFix amt="4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8" name="Cinemataztic wordmark" descr="Cinemataztic wordmark"/>
          <p:cNvPicPr>
            <a:picLocks noChangeAspect="1"/>
          </p:cNvPicPr>
          <p:nvPr/>
        </p:nvPicPr>
        <p:blipFill>
          <a:blip r:embed="rIdWordBlack"/>
          <a:stretch>
            <a:fillRect/>
          </a:stretch>
        </p:blipFill>
        <p:spPr>
          <a:xfrm>
            <a:off x="548640" y="6387084"/>
            <a:ext cx="1606375" cy="164592"/>
          </a:xfrm>
          <a:prstGeom prst="rect">
            <a:avLst/>
          </a:prstGeom>
        </p:spPr>
      </p:pic>
      <p:sp>
        <p:nvSpPr>
          <p:cNvPr id="9" name="Label"/>
          <p:cNvSpPr>
            <a:spLocks noGrp="1"/>
          </p:cNvSpPr>
          <p:nvPr>
            <p:ph type="body" idx="10"/>
          </p:nvPr>
        </p:nvSpPr>
        <p:spPr>
          <a:xfrm>
            <a:off x="548640" y="2377440"/>
            <a:ext cx="822960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sz="1100" b="1" cap="all" spc="300">
                <a:solidFill>
                  <a:srgbClr val="0A0A0C"/>
                </a:solidFill>
                <a:latin typeface="+mn-lt"/>
              </a:defRPr>
            </a:lvl1pPr>
          </a:lstStyle>
          <a:p>
            <a:r>
              <a:rPr lang="en-GB" dirty="0"/>
              <a:t>SECTION 01</a:t>
            </a:r>
          </a:p>
        </p:txBody>
      </p:sp>
      <p:sp>
        <p:nvSpPr>
          <p:cNvPr id="10" name="Title"/>
          <p:cNvSpPr>
            <a:spLocks noGrp="1"/>
          </p:cNvSpPr>
          <p:nvPr>
            <p:ph type="title"/>
          </p:nvPr>
        </p:nvSpPr>
        <p:spPr>
          <a:xfrm>
            <a:off x="548640" y="2743200"/>
            <a:ext cx="10515600" cy="18288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88000"/>
              </a:lnSpc>
              <a:buNone/>
              <a:defRPr sz="5400" b="1" cap="all" spc="-100">
                <a:solidFill>
                  <a:srgbClr val="0A0A0C"/>
                </a:solidFill>
                <a:latin typeface="+mj-lt"/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11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algn="r">
              <a:defRPr sz="900" b="1">
                <a:solidFill>
                  <a:srgbClr val="0A0A0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– Blue">
    <p:bg>
      <p:bgPr>
        <a:solidFill>
          <a:srgbClr val="3DC0C8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Network pattern" descr="Network pattern"/>
          <p:cNvPicPr>
            <a:picLocks noChangeAspect="1"/>
          </p:cNvPicPr>
          <p:nvPr/>
        </p:nvPicPr>
        <p:blipFill>
          <a:blip r:embed="rIdMeshDark">
            <a:alphaModFix amt="4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3" name="Cinemataztic wordmark" descr="Cinemataztic wordmark"/>
          <p:cNvPicPr>
            <a:picLocks noChangeAspect="1"/>
          </p:cNvPicPr>
          <p:nvPr/>
        </p:nvPicPr>
        <p:blipFill>
          <a:blip r:embed="rIdWordBlack"/>
          <a:stretch>
            <a:fillRect/>
          </a:stretch>
        </p:blipFill>
        <p:spPr>
          <a:xfrm>
            <a:off x="548640" y="6387084"/>
            <a:ext cx="1606375" cy="164592"/>
          </a:xfrm>
          <a:prstGeom prst="rect">
            <a:avLst/>
          </a:prstGeom>
        </p:spPr>
      </p:pic>
      <p:sp>
        <p:nvSpPr>
          <p:cNvPr id="14" name="Label"/>
          <p:cNvSpPr>
            <a:spLocks noGrp="1"/>
          </p:cNvSpPr>
          <p:nvPr>
            <p:ph type="body" idx="10"/>
          </p:nvPr>
        </p:nvSpPr>
        <p:spPr>
          <a:xfrm>
            <a:off x="548640" y="2377440"/>
            <a:ext cx="822960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sz="1100" b="1" cap="all" spc="300">
                <a:solidFill>
                  <a:srgbClr val="0A0A0C"/>
                </a:solidFill>
                <a:latin typeface="+mn-lt"/>
              </a:defRPr>
            </a:lvl1pPr>
          </a:lstStyle>
          <a:p>
            <a:r>
              <a:rPr lang="en-GB" dirty="0"/>
              <a:t>SECTION 01</a:t>
            </a:r>
          </a:p>
        </p:txBody>
      </p:sp>
      <p:sp>
        <p:nvSpPr>
          <p:cNvPr id="15" name="Title"/>
          <p:cNvSpPr>
            <a:spLocks noGrp="1"/>
          </p:cNvSpPr>
          <p:nvPr>
            <p:ph type="title"/>
          </p:nvPr>
        </p:nvSpPr>
        <p:spPr>
          <a:xfrm>
            <a:off x="548640" y="2743200"/>
            <a:ext cx="10515600" cy="18288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88000"/>
              </a:lnSpc>
              <a:buNone/>
              <a:defRPr sz="5400" b="1" cap="all" spc="-100">
                <a:solidFill>
                  <a:srgbClr val="0A0A0C"/>
                </a:solidFill>
                <a:latin typeface="+mj-lt"/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16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algn="r">
              <a:defRPr sz="900" b="1">
                <a:solidFill>
                  <a:srgbClr val="0A0A0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– Green">
    <p:bg>
      <p:bgPr>
        <a:solidFill>
          <a:srgbClr val="6CEEC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" name="Network pattern" descr="Network pattern"/>
          <p:cNvPicPr>
            <a:picLocks noChangeAspect="1"/>
          </p:cNvPicPr>
          <p:nvPr/>
        </p:nvPicPr>
        <p:blipFill>
          <a:blip r:embed="rIdMeshDark">
            <a:alphaModFix amt="4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18" name="Cinemataztic wordmark" descr="Cinemataztic wordmark"/>
          <p:cNvPicPr>
            <a:picLocks noChangeAspect="1"/>
          </p:cNvPicPr>
          <p:nvPr/>
        </p:nvPicPr>
        <p:blipFill>
          <a:blip r:embed="rIdWordBlack"/>
          <a:stretch>
            <a:fillRect/>
          </a:stretch>
        </p:blipFill>
        <p:spPr>
          <a:xfrm>
            <a:off x="548640" y="6387084"/>
            <a:ext cx="1606375" cy="164592"/>
          </a:xfrm>
          <a:prstGeom prst="rect">
            <a:avLst/>
          </a:prstGeom>
        </p:spPr>
      </p:pic>
      <p:sp>
        <p:nvSpPr>
          <p:cNvPr id="19" name="Label"/>
          <p:cNvSpPr>
            <a:spLocks noGrp="1"/>
          </p:cNvSpPr>
          <p:nvPr>
            <p:ph type="body" idx="10"/>
          </p:nvPr>
        </p:nvSpPr>
        <p:spPr>
          <a:xfrm>
            <a:off x="548640" y="2377440"/>
            <a:ext cx="822960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sz="1100" b="1" cap="all" spc="300">
                <a:solidFill>
                  <a:srgbClr val="0A0A0C"/>
                </a:solidFill>
                <a:latin typeface="+mn-lt"/>
              </a:defRPr>
            </a:lvl1pPr>
          </a:lstStyle>
          <a:p>
            <a:r>
              <a:rPr lang="en-GB" dirty="0"/>
              <a:t>SECTION 01</a:t>
            </a:r>
          </a:p>
        </p:txBody>
      </p:sp>
      <p:sp>
        <p:nvSpPr>
          <p:cNvPr id="20" name="Title"/>
          <p:cNvSpPr>
            <a:spLocks noGrp="1"/>
          </p:cNvSpPr>
          <p:nvPr>
            <p:ph type="title"/>
          </p:nvPr>
        </p:nvSpPr>
        <p:spPr>
          <a:xfrm>
            <a:off x="548640" y="2743200"/>
            <a:ext cx="10515600" cy="18288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88000"/>
              </a:lnSpc>
              <a:buNone/>
              <a:defRPr sz="5400" b="1" cap="all" spc="-100">
                <a:solidFill>
                  <a:srgbClr val="0A0A0C"/>
                </a:solidFill>
                <a:latin typeface="+mj-lt"/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21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algn="r">
              <a:defRPr sz="900" b="1">
                <a:solidFill>
                  <a:srgbClr val="0A0A0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Section – Orange">
    <p:bg>
      <p:bgPr>
        <a:solidFill>
          <a:srgbClr val="FEA917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Network pattern" descr="Network pattern"/>
          <p:cNvPicPr>
            <a:picLocks noChangeAspect="1"/>
          </p:cNvPicPr>
          <p:nvPr/>
        </p:nvPicPr>
        <p:blipFill>
          <a:blip r:embed="rIdMeshDark">
            <a:alphaModFix amt="40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pic>
        <p:nvPicPr>
          <p:cNvPr id="23" name="Cinemataztic wordmark" descr="Cinemataztic wordmark"/>
          <p:cNvPicPr>
            <a:picLocks noChangeAspect="1"/>
          </p:cNvPicPr>
          <p:nvPr/>
        </p:nvPicPr>
        <p:blipFill>
          <a:blip r:embed="rIdWordBlack"/>
          <a:stretch>
            <a:fillRect/>
          </a:stretch>
        </p:blipFill>
        <p:spPr>
          <a:xfrm>
            <a:off x="548640" y="6387084"/>
            <a:ext cx="1606375" cy="164592"/>
          </a:xfrm>
          <a:prstGeom prst="rect">
            <a:avLst/>
          </a:prstGeom>
        </p:spPr>
      </p:pic>
      <p:sp>
        <p:nvSpPr>
          <p:cNvPr id="24" name="Label"/>
          <p:cNvSpPr>
            <a:spLocks noGrp="1"/>
          </p:cNvSpPr>
          <p:nvPr>
            <p:ph type="body" idx="10"/>
          </p:nvPr>
        </p:nvSpPr>
        <p:spPr>
          <a:xfrm>
            <a:off x="548640" y="2377440"/>
            <a:ext cx="822960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sz="1100" b="1" cap="all" spc="300">
                <a:solidFill>
                  <a:srgbClr val="0A0A0C"/>
                </a:solidFill>
                <a:latin typeface="+mn-lt"/>
              </a:defRPr>
            </a:lvl1pPr>
          </a:lstStyle>
          <a:p>
            <a:r>
              <a:rPr lang="en-GB" dirty="0"/>
              <a:t>SECTION 01</a:t>
            </a:r>
          </a:p>
        </p:txBody>
      </p:sp>
      <p:sp>
        <p:nvSpPr>
          <p:cNvPr id="25" name="Title"/>
          <p:cNvSpPr>
            <a:spLocks noGrp="1"/>
          </p:cNvSpPr>
          <p:nvPr>
            <p:ph type="title"/>
          </p:nvPr>
        </p:nvSpPr>
        <p:spPr>
          <a:xfrm>
            <a:off x="548640" y="2743200"/>
            <a:ext cx="10515600" cy="18288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88000"/>
              </a:lnSpc>
              <a:buNone/>
              <a:defRPr sz="5400" b="1" cap="all" spc="-100">
                <a:solidFill>
                  <a:srgbClr val="0A0A0C"/>
                </a:solidFill>
                <a:latin typeface="+mj-lt"/>
              </a:defRPr>
            </a:lvl1pPr>
          </a:lstStyle>
          <a:p>
            <a:r>
              <a:rPr lang="en-GB" dirty="0"/>
              <a:t>Section title</a:t>
            </a:r>
          </a:p>
        </p:txBody>
      </p:sp>
      <p:sp>
        <p:nvSpPr>
          <p:cNvPr id="26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algn="r">
              <a:defRPr sz="900" b="1">
                <a:solidFill>
                  <a:srgbClr val="0A0A0C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Sidebar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Label"/>
          <p:cNvSpPr>
            <a:spLocks noGrp="1"/>
          </p:cNvSpPr>
          <p:nvPr>
            <p:ph type="body" idx="10"/>
          </p:nvPr>
        </p:nvSpPr>
        <p:spPr>
          <a:xfrm>
            <a:off x="548640" y="685800"/>
            <a:ext cx="301752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sz="1100" b="1" cap="all" spc="300">
                <a:solidFill>
                  <a:srgbClr val="FECE00"/>
                </a:solidFill>
                <a:latin typeface="+mn-lt"/>
              </a:defRPr>
            </a:lvl1pPr>
          </a:lstStyle>
          <a:p>
            <a:r>
              <a:rPr lang="en-GB" dirty="0"/>
              <a:t>LABEL</a:t>
            </a:r>
          </a:p>
        </p:txBody>
      </p:sp>
      <p:sp>
        <p:nvSpPr>
          <p:cNvPr id="28" name="Title"/>
          <p:cNvSpPr>
            <a:spLocks noGrp="1"/>
          </p:cNvSpPr>
          <p:nvPr>
            <p:ph type="title"/>
          </p:nvPr>
        </p:nvSpPr>
        <p:spPr>
          <a:xfrm>
            <a:off x="548640" y="1005840"/>
            <a:ext cx="3017520" cy="13716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90000"/>
              </a:lnSpc>
              <a:buNone/>
              <a:defRPr sz="3000" b="1" cap="all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Section heading</a:t>
            </a:r>
          </a:p>
        </p:txBody>
      </p:sp>
      <p:sp>
        <p:nvSpPr>
          <p:cNvPr id="29" name="Text"/>
          <p:cNvSpPr>
            <a:spLocks noGrp="1"/>
          </p:cNvSpPr>
          <p:nvPr>
            <p:ph type="body" idx="1"/>
          </p:nvPr>
        </p:nvSpPr>
        <p:spPr>
          <a:xfrm>
            <a:off x="548640" y="2514600"/>
            <a:ext cx="3017520" cy="329184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125000"/>
              </a:lnSpc>
              <a:spcAft>
                <a:spcPts val="800"/>
              </a:spcAft>
              <a:buNone/>
              <a:defRPr sz="1400" b="0">
                <a:solidFill>
                  <a:srgbClr val="9CA3AF"/>
                </a:solidFill>
                <a:latin typeface="+mn-lt"/>
              </a:defRPr>
            </a:lvl1pPr>
          </a:lstStyle>
          <a:p>
            <a:r>
              <a:rPr lang="en-GB" dirty="0"/>
              <a:t>Short text that explains the section. Keep it to a few lines.</a:t>
            </a:r>
          </a:p>
        </p:txBody>
      </p:sp>
      <p:pic>
        <p:nvPicPr>
          <p:cNvPr id="30" name="Cinemataztic wordmark" descr="Cinemataztic wordmark"/>
          <p:cNvPicPr>
            <a:picLocks noChangeAspect="1"/>
          </p:cNvPicPr>
          <p:nvPr/>
        </p:nvPicPr>
        <p:blipFill>
          <a:blip r:embed="rIdWord"/>
          <a:stretch>
            <a:fillRect/>
          </a:stretch>
        </p:blipFill>
        <p:spPr>
          <a:xfrm>
            <a:off x="548640" y="6387084"/>
            <a:ext cx="1606375" cy="164592"/>
          </a:xfrm>
          <a:prstGeom prst="rect">
            <a:avLst/>
          </a:prstGeom>
        </p:spPr>
      </p:pic>
      <p:sp>
        <p:nvSpPr>
          <p:cNvPr id="31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algn="r">
              <a:defRPr sz="900" b="1">
                <a:solidFill>
                  <a:srgbClr val="9CA3AF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Sidebar + picture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" name="Label"/>
          <p:cNvSpPr>
            <a:spLocks noGrp="1"/>
          </p:cNvSpPr>
          <p:nvPr>
            <p:ph type="body" idx="10"/>
          </p:nvPr>
        </p:nvSpPr>
        <p:spPr>
          <a:xfrm>
            <a:off x="548640" y="685800"/>
            <a:ext cx="301752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sz="1100" b="1" cap="all" spc="300">
                <a:solidFill>
                  <a:srgbClr val="FECE00"/>
                </a:solidFill>
                <a:latin typeface="+mn-lt"/>
              </a:defRPr>
            </a:lvl1pPr>
          </a:lstStyle>
          <a:p>
            <a:r>
              <a:rPr lang="en-GB" dirty="0"/>
              <a:t>LABEL</a:t>
            </a:r>
          </a:p>
        </p:txBody>
      </p:sp>
      <p:sp>
        <p:nvSpPr>
          <p:cNvPr id="34" name="Title"/>
          <p:cNvSpPr>
            <a:spLocks noGrp="1"/>
          </p:cNvSpPr>
          <p:nvPr>
            <p:ph type="title"/>
          </p:nvPr>
        </p:nvSpPr>
        <p:spPr>
          <a:xfrm>
            <a:off x="548640" y="1005840"/>
            <a:ext cx="5212080" cy="137160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90000"/>
              </a:lnSpc>
              <a:buNone/>
              <a:defRPr sz="3000" b="1" cap="all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Section heading</a:t>
            </a:r>
          </a:p>
        </p:txBody>
      </p:sp>
      <p:sp>
        <p:nvSpPr>
          <p:cNvPr id="35" name="Text"/>
          <p:cNvSpPr>
            <a:spLocks noGrp="1"/>
          </p:cNvSpPr>
          <p:nvPr>
            <p:ph type="body" idx="1"/>
          </p:nvPr>
        </p:nvSpPr>
        <p:spPr>
          <a:xfrm>
            <a:off x="548640" y="2514600"/>
            <a:ext cx="5212080" cy="237744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125000"/>
              </a:lnSpc>
              <a:spcAft>
                <a:spcPts val="800"/>
              </a:spcAft>
              <a:buNone/>
              <a:defRPr sz="1400" b="0">
                <a:solidFill>
                  <a:srgbClr val="9CA3AF"/>
                </a:solidFill>
                <a:latin typeface="+mn-lt"/>
              </a:defRPr>
            </a:lvl1pPr>
          </a:lstStyle>
          <a:p>
            <a:r>
              <a:rPr lang="en-GB" dirty="0"/>
              <a:t>Short text that explains the picture. Keep it to a few lines.</a:t>
            </a:r>
          </a:p>
        </p:txBody>
      </p:sp>
      <p:sp>
        <p:nvSpPr>
          <p:cNvPr id="32" name="Picture"/>
          <p:cNvSpPr>
            <a:spLocks noGrp="1"/>
          </p:cNvSpPr>
          <p:nvPr>
            <p:ph type="pic" idx="13"/>
          </p:nvPr>
        </p:nvSpPr>
        <p:spPr>
          <a:xfrm>
            <a:off x="6309360" y="685800"/>
            <a:ext cx="5333695" cy="5120640"/>
          </a:xfrm>
          <a:prstGeom prst="roundRect">
            <a:avLst>
              <a:gd name="adj" fmla="val 3929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  <p:txBody>
          <a:bodyPr wrap="square" lIns="0" tIns="0" rIns="0" bIns="0" anchor="ctr" rtlCol="0">
            <a:noAutofit/>
          </a:bodyPr>
          <a:lstStyle>
            <a:lvl1pPr marL="0" indent="0" algn="ctr">
              <a:buNone/>
              <a:defRPr sz="1100" b="1" cap="all" spc="300">
                <a:solidFill>
                  <a:srgbClr val="9CA3AF"/>
                </a:solidFill>
                <a:latin typeface="+mn-lt"/>
              </a:defRPr>
            </a:lvl1pPr>
          </a:lstStyle>
          <a:p>
            <a:r>
              <a:rPr lang="en-GB" dirty="0"/>
              <a:t>Click the icon to add a picture</a:t>
            </a:r>
          </a:p>
        </p:txBody>
      </p:sp>
      <p:pic>
        <p:nvPicPr>
          <p:cNvPr id="36" name="Cinemataztic wordmark" descr="Cinemataztic wordmark"/>
          <p:cNvPicPr>
            <a:picLocks noChangeAspect="1"/>
          </p:cNvPicPr>
          <p:nvPr/>
        </p:nvPicPr>
        <p:blipFill>
          <a:blip r:embed="rIdWord"/>
          <a:stretch>
            <a:fillRect/>
          </a:stretch>
        </p:blipFill>
        <p:spPr>
          <a:xfrm>
            <a:off x="548640" y="6387084"/>
            <a:ext cx="1606375" cy="164592"/>
          </a:xfrm>
          <a:prstGeom prst="rect">
            <a:avLst/>
          </a:prstGeom>
        </p:spPr>
      </p:pic>
      <p:sp>
        <p:nvSpPr>
          <p:cNvPr id="37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algn="r">
              <a:defRPr sz="900" b="1">
                <a:solidFill>
                  <a:srgbClr val="9CA3AF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ontent – Title only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Label"/>
          <p:cNvSpPr>
            <a:spLocks noGrp="1"/>
          </p:cNvSpPr>
          <p:nvPr>
            <p:ph type="body" idx="10"/>
          </p:nvPr>
        </p:nvSpPr>
        <p:spPr>
          <a:xfrm>
            <a:off x="548640" y="685800"/>
            <a:ext cx="822960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sz="1100" b="1" cap="all" spc="300">
                <a:solidFill>
                  <a:srgbClr val="FECE00"/>
                </a:solidFill>
                <a:latin typeface="+mn-lt"/>
              </a:defRPr>
            </a:lvl1pPr>
          </a:lstStyle>
          <a:p>
            <a:r>
              <a:rPr lang="en-GB" dirty="0"/>
              <a:t>LABEL</a:t>
            </a:r>
          </a:p>
        </p:txBody>
      </p:sp>
      <p:sp>
        <p:nvSpPr>
          <p:cNvPr id="39" name="Title"/>
          <p:cNvSpPr>
            <a:spLocks noGrp="1"/>
          </p:cNvSpPr>
          <p:nvPr>
            <p:ph type="title"/>
          </p:nvPr>
        </p:nvSpPr>
        <p:spPr>
          <a:xfrm>
            <a:off x="548640" y="1005840"/>
            <a:ext cx="10972800" cy="82296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90000"/>
              </a:lnSpc>
              <a:buNone/>
              <a:defRPr sz="3000" b="1" cap="all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Slide heading</a:t>
            </a:r>
          </a:p>
        </p:txBody>
      </p:sp>
      <p:pic>
        <p:nvPicPr>
          <p:cNvPr id="40" name="Cinemataztic wordmark" descr="Cinemataztic wordmark"/>
          <p:cNvPicPr>
            <a:picLocks noChangeAspect="1"/>
          </p:cNvPicPr>
          <p:nvPr/>
        </p:nvPicPr>
        <p:blipFill>
          <a:blip r:embed="rIdWord"/>
          <a:stretch>
            <a:fillRect/>
          </a:stretch>
        </p:blipFill>
        <p:spPr>
          <a:xfrm>
            <a:off x="548640" y="6387084"/>
            <a:ext cx="1606375" cy="164592"/>
          </a:xfrm>
          <a:prstGeom prst="rect">
            <a:avLst/>
          </a:prstGeom>
        </p:spPr>
      </p:pic>
      <p:sp>
        <p:nvSpPr>
          <p:cNvPr id="41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algn="r">
              <a:defRPr sz="900" b="1">
                <a:solidFill>
                  <a:srgbClr val="9CA3AF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Closing – Let’s talk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2" name="Network pattern" descr="Network pattern"/>
          <p:cNvPicPr>
            <a:picLocks noChangeAspect="1"/>
          </p:cNvPicPr>
          <p:nvPr/>
        </p:nvPicPr>
        <p:blipFill>
          <a:blip r:embed="rIdMeshLight">
            <a:alphaModFix amt="35000"/>
          </a:blip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43" name="Cinemataztic mark"/>
          <p:cNvSpPr/>
          <p:nvPr/>
        </p:nvSpPr>
        <p:spPr>
          <a:xfrm>
            <a:off x="8534095" y="1874520"/>
            <a:ext cx="3108960" cy="3108960"/>
          </a:xfrm>
          <a:custGeom>
            <a:avLst/>
            <a:gdLst/>
            <a:ahLst/>
            <a:cxnLst/>
            <a:rect l="0" t="0" r="r" b="b"/>
            <a:pathLst>
              <a:path w="116800" h="116800">
                <a:moveTo>
                  <a:pt x="66662" y="108923"/>
                </a:moveTo>
                <a:lnTo>
                  <a:pt x="66662" y="84296"/>
                </a:lnTo>
                <a:cubicBezTo>
                  <a:pt x="70815" y="82975"/>
                  <a:pt x="74709" y="80633"/>
                  <a:pt x="77949" y="77278"/>
                </a:cubicBezTo>
                <a:cubicBezTo>
                  <a:pt x="88375" y="66482"/>
                  <a:pt x="88075" y="49277"/>
                  <a:pt x="77278" y="38851"/>
                </a:cubicBezTo>
                <a:cubicBezTo>
                  <a:pt x="66482" y="28425"/>
                  <a:pt x="49277" y="28725"/>
                  <a:pt x="38851" y="39522"/>
                </a:cubicBezTo>
                <a:cubicBezTo>
                  <a:pt x="28425" y="50318"/>
                  <a:pt x="28725" y="67523"/>
                  <a:pt x="39522" y="77949"/>
                </a:cubicBezTo>
                <a:cubicBezTo>
                  <a:pt x="42634" y="80954"/>
                  <a:pt x="46278" y="83068"/>
                  <a:pt x="50138" y="84296"/>
                </a:cubicBezTo>
                <a:lnTo>
                  <a:pt x="50138" y="108936"/>
                </a:lnTo>
                <a:cubicBezTo>
                  <a:pt x="43343" y="107829"/>
                  <a:pt x="36662" y="105325"/>
                  <a:pt x="30518" y="101335"/>
                </a:cubicBezTo>
                <a:cubicBezTo>
                  <a:pt x="6806" y="85936"/>
                  <a:pt x="66" y="54230"/>
                  <a:pt x="15465" y="30518"/>
                </a:cubicBezTo>
                <a:cubicBezTo>
                  <a:pt x="30864" y="6806"/>
                  <a:pt x="62570" y="66"/>
                  <a:pt x="86282" y="15465"/>
                </a:cubicBezTo>
                <a:cubicBezTo>
                  <a:pt x="109994" y="30864"/>
                  <a:pt x="116734" y="62570"/>
                  <a:pt x="101335" y="86282"/>
                </a:cubicBezTo>
                <a:cubicBezTo>
                  <a:pt x="93161" y="98870"/>
                  <a:pt x="80391" y="106674"/>
                  <a:pt x="66662" y="108923"/>
                </a:cubicBezTo>
                <a:close/>
              </a:path>
              <a:path w="116800" h="116800">
                <a:moveTo>
                  <a:pt x="60314" y="57259"/>
                </a:moveTo>
                <a:cubicBezTo>
                  <a:pt x="57041" y="55134"/>
                  <a:pt x="56111" y="50759"/>
                  <a:pt x="58236" y="47486"/>
                </a:cubicBezTo>
                <a:cubicBezTo>
                  <a:pt x="60361" y="44214"/>
                  <a:pt x="64737" y="43284"/>
                  <a:pt x="68009" y="45409"/>
                </a:cubicBezTo>
                <a:cubicBezTo>
                  <a:pt x="71282" y="47534"/>
                  <a:pt x="72212" y="51910"/>
                  <a:pt x="70087" y="55182"/>
                </a:cubicBezTo>
                <a:cubicBezTo>
                  <a:pt x="67961" y="58454"/>
                  <a:pt x="63586" y="59385"/>
                  <a:pt x="60314" y="57259"/>
                </a:cubicBezTo>
                <a:close/>
              </a:path>
            </a:pathLst>
          </a:custGeom>
          <a:solidFill>
            <a:srgbClr val="FFFFFF">
              <a:alpha val="6000"/>
            </a:srgbClr>
          </a:solidFill>
          <a:ln>
            <a:noFill/>
          </a:ln>
        </p:spPr>
      </p:sp>
      <p:sp>
        <p:nvSpPr>
          <p:cNvPr id="44" name="Label"/>
          <p:cNvSpPr>
            <a:spLocks noGrp="1"/>
          </p:cNvSpPr>
          <p:nvPr>
            <p:ph type="body" idx="10"/>
          </p:nvPr>
        </p:nvSpPr>
        <p:spPr>
          <a:xfrm>
            <a:off x="548640" y="1874520"/>
            <a:ext cx="8229600" cy="27432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buNone/>
              <a:defRPr sz="1100" b="1" cap="all" spc="300">
                <a:solidFill>
                  <a:srgbClr val="FECE00"/>
                </a:solidFill>
                <a:latin typeface="+mn-lt"/>
              </a:defRPr>
            </a:lvl1pPr>
          </a:lstStyle>
          <a:p>
            <a:r>
              <a:rPr lang="en-GB" dirty="0"/>
              <a:t>CONTACT</a:t>
            </a:r>
          </a:p>
        </p:txBody>
      </p:sp>
      <p:sp>
        <p:nvSpPr>
          <p:cNvPr id="45" name="Title"/>
          <p:cNvSpPr>
            <a:spLocks noGrp="1"/>
          </p:cNvSpPr>
          <p:nvPr>
            <p:ph type="title"/>
          </p:nvPr>
        </p:nvSpPr>
        <p:spPr>
          <a:xfrm>
            <a:off x="548640" y="2240280"/>
            <a:ext cx="10241280" cy="146304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88000"/>
              </a:lnSpc>
              <a:buNone/>
              <a:defRPr sz="6000" b="1" cap="all" spc="-100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Let’s talk</a:t>
            </a:r>
          </a:p>
        </p:txBody>
      </p:sp>
      <p:sp>
        <p:nvSpPr>
          <p:cNvPr id="46" name="Text"/>
          <p:cNvSpPr>
            <a:spLocks noGrp="1"/>
          </p:cNvSpPr>
          <p:nvPr>
            <p:ph type="body" idx="1"/>
          </p:nvPr>
        </p:nvSpPr>
        <p:spPr>
          <a:xfrm>
            <a:off x="548640" y="3931920"/>
            <a:ext cx="6583680" cy="109728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rgbClr val="FFFFFF"/>
                </a:solidFill>
                <a:latin typeface="+mn-lt"/>
              </a:defRPr>
            </a:lvl1pPr>
          </a:lstStyle>
          <a:p>
            <a:r>
              <a:rPr lang="en-GB" dirty="0"/>
              <a:t>info@cinemataztic.com</a:t>
            </a:r>
          </a:p>
        </p:txBody>
      </p:sp>
      <p:pic>
        <p:nvPicPr>
          <p:cNvPr id="47" name="Cinemataztic wordmark" descr="Cinemataztic wordmark"/>
          <p:cNvPicPr>
            <a:picLocks noChangeAspect="1"/>
          </p:cNvPicPr>
          <p:nvPr/>
        </p:nvPicPr>
        <p:blipFill>
          <a:blip r:embed="rIdWord"/>
          <a:stretch>
            <a:fillRect/>
          </a:stretch>
        </p:blipFill>
        <p:spPr>
          <a:xfrm>
            <a:off x="548640" y="6387084"/>
            <a:ext cx="1606375" cy="164592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Blank – Dark"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Cinemataztic wordmark" descr="Cinemataztic wordmark"/>
          <p:cNvPicPr>
            <a:picLocks noChangeAspect="1"/>
          </p:cNvPicPr>
          <p:nvPr/>
        </p:nvPicPr>
        <p:blipFill>
          <a:blip r:embed="rIdWord"/>
          <a:stretch>
            <a:fillRect/>
          </a:stretch>
        </p:blipFill>
        <p:spPr>
          <a:xfrm>
            <a:off x="548640" y="6387084"/>
            <a:ext cx="1606375" cy="164592"/>
          </a:xfrm>
          <a:prstGeom prst="rect">
            <a:avLst/>
          </a:prstGeom>
        </p:spPr>
      </p:pic>
      <p:sp>
        <p:nvSpPr>
          <p:cNvPr id="49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algn="r">
              <a:defRPr sz="900" b="1">
                <a:solidFill>
                  <a:srgbClr val="9CA3AF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Layout>
</file>

<file path=ppt/slideMasters/_rels/slideMaster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0A0A0C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9" name="Title"/>
          <p:cNvSpPr>
            <a:spLocks noGrp="1"/>
          </p:cNvSpPr>
          <p:nvPr>
            <p:ph type="title"/>
          </p:nvPr>
        </p:nvSpPr>
        <p:spPr>
          <a:xfrm>
            <a:off x="548640" y="1005840"/>
            <a:ext cx="10972800" cy="82296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90000"/>
              </a:lnSpc>
              <a:buNone/>
              <a:defRPr sz="3000" b="1" cap="all">
                <a:solidFill>
                  <a:srgbClr val="FFFFFF"/>
                </a:solidFill>
                <a:latin typeface="+mj-lt"/>
              </a:defRPr>
            </a:lvl1pPr>
          </a:lstStyle>
          <a:p>
            <a:r>
              <a:rPr lang="en-GB" dirty="0"/>
              <a:t>Title</a:t>
            </a:r>
          </a:p>
        </p:txBody>
      </p:sp>
      <p:sp>
        <p:nvSpPr>
          <p:cNvPr id="240" name="Text"/>
          <p:cNvSpPr>
            <a:spLocks noGrp="1"/>
          </p:cNvSpPr>
          <p:nvPr>
            <p:ph type="body" idx="1"/>
          </p:nvPr>
        </p:nvSpPr>
        <p:spPr>
          <a:xfrm>
            <a:off x="548640" y="2011680"/>
            <a:ext cx="10972800" cy="3840480"/>
          </a:xfrm>
          <a:prstGeom prst="rect">
            <a:avLst/>
          </a:prstGeom>
        </p:spPr>
        <p:txBody>
          <a:bodyPr wrap="square" lIns="0" tIns="0" rIns="0" bIns="0" anchor="t" rtlCol="0">
            <a:noAutofit/>
          </a:bodyPr>
          <a:lstStyle>
            <a:lvl1pPr marL="0" indent="0">
              <a:lnSpc>
                <a:spcPct val="120000"/>
              </a:lnSpc>
              <a:buNone/>
              <a:defRPr sz="1600" b="0">
                <a:solidFill>
                  <a:srgbClr val="D1D5DB"/>
                </a:solidFill>
                <a:latin typeface="+mn-lt"/>
              </a:defRPr>
            </a:lvl1pPr>
          </a:lstStyle>
          <a:p>
            <a:r>
              <a:rPr lang="en-GB" dirty="0"/>
              <a:t>Text</a:t>
            </a:r>
          </a:p>
        </p:txBody>
      </p:sp>
      <p:sp>
        <p:nvSpPr>
          <p:cNvPr id="241" name="Slide number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 wrap="square" lIns="0" tIns="0" rIns="0" bIns="0" anchor="ctr" rtlCol="0">
            <a:noAutofit/>
          </a:bodyPr>
          <a:lstStyle>
            <a:lvl1pPr algn="r">
              <a:defRPr sz="900" b="1">
                <a:solidFill>
                  <a:srgbClr val="9CA3AF"/>
                </a:solidFill>
                <a:latin typeface="+mn-lt"/>
              </a:defRPr>
            </a:lvl1pPr>
          </a:lstStyle>
          <a:p>
            <a:fld id="{B6F15528-21DE-4FAA-801E-634DDDAF4B2B}" type="slidenum">
              <a:rPr lang="en-GB"/>
              <a:t>‹#›</a:t>
            </a:fld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marL="0" indent="0" algn="l">
        <a:lnSpc>
          <a:spcPct val="90000"/>
        </a:lnSpc>
        <a:buNone/>
        <a:defRPr sz="3000" b="1" cap="all">
          <a:solidFill>
            <a:srgbClr val="FFFFFF"/>
          </a:solidFill>
          <a:latin typeface="+mj-lt"/>
        </a:defRPr>
      </a:lvl1pPr>
      <a:lvl2pPr marL="0" indent="0" algn="l">
        <a:lnSpc>
          <a:spcPct val="90000"/>
        </a:lnSpc>
        <a:buNone/>
        <a:defRPr sz="3000" b="1" cap="all">
          <a:solidFill>
            <a:srgbClr val="FFFFFF"/>
          </a:solidFill>
          <a:latin typeface="+mj-lt"/>
        </a:defRPr>
      </a:lvl2pPr>
      <a:lvl3pPr marL="0" indent="0" algn="l">
        <a:lnSpc>
          <a:spcPct val="90000"/>
        </a:lnSpc>
        <a:buNone/>
        <a:defRPr sz="3000" b="1" cap="all">
          <a:solidFill>
            <a:srgbClr val="FFFFFF"/>
          </a:solidFill>
          <a:latin typeface="+mj-lt"/>
        </a:defRPr>
      </a:lvl3pPr>
      <a:lvl4pPr marL="0" indent="0" algn="l">
        <a:lnSpc>
          <a:spcPct val="90000"/>
        </a:lnSpc>
        <a:buNone/>
        <a:defRPr sz="3000" b="1" cap="all">
          <a:solidFill>
            <a:srgbClr val="FFFFFF"/>
          </a:solidFill>
          <a:latin typeface="+mj-lt"/>
        </a:defRPr>
      </a:lvl4pPr>
      <a:lvl5pPr marL="0" indent="0" algn="l">
        <a:lnSpc>
          <a:spcPct val="90000"/>
        </a:lnSpc>
        <a:buNone/>
        <a:defRPr sz="3000" b="1" cap="all">
          <a:solidFill>
            <a:srgbClr val="FFFFFF"/>
          </a:solidFill>
          <a:latin typeface="+mj-lt"/>
        </a:defRPr>
      </a:lvl5pPr>
      <a:lvl6pPr marL="0" indent="0" algn="l">
        <a:lnSpc>
          <a:spcPct val="90000"/>
        </a:lnSpc>
        <a:buNone/>
        <a:defRPr sz="3000" b="1" cap="all">
          <a:solidFill>
            <a:srgbClr val="FFFFFF"/>
          </a:solidFill>
          <a:latin typeface="+mj-lt"/>
        </a:defRPr>
      </a:lvl6pPr>
      <a:lvl7pPr marL="0" indent="0" algn="l">
        <a:lnSpc>
          <a:spcPct val="90000"/>
        </a:lnSpc>
        <a:buNone/>
        <a:defRPr sz="3000" b="1" cap="all">
          <a:solidFill>
            <a:srgbClr val="FFFFFF"/>
          </a:solidFill>
          <a:latin typeface="+mj-lt"/>
        </a:defRPr>
      </a:lvl7pPr>
      <a:lvl8pPr marL="0" indent="0" algn="l">
        <a:lnSpc>
          <a:spcPct val="90000"/>
        </a:lnSpc>
        <a:buNone/>
        <a:defRPr sz="3000" b="1" cap="all">
          <a:solidFill>
            <a:srgbClr val="FFFFFF"/>
          </a:solidFill>
          <a:latin typeface="+mj-lt"/>
        </a:defRPr>
      </a:lvl8pPr>
      <a:lvl9pPr marL="0" indent="0" algn="l">
        <a:lnSpc>
          <a:spcPct val="90000"/>
        </a:lnSpc>
        <a:buNone/>
        <a:defRPr sz="3000" b="1" cap="all">
          <a:solidFill>
            <a:srgbClr val="FFFFFF"/>
          </a:solidFill>
          <a:latin typeface="+mj-lt"/>
        </a:defRPr>
      </a:lvl9pPr>
    </p:titleStyle>
    <p:bodyStyle>
      <a:lvl1pPr marL="0" indent="0" algn="l">
        <a:lnSpc>
          <a:spcPct val="120000"/>
        </a:lnSpc>
        <a:buNone/>
        <a:defRPr sz="1600" b="0">
          <a:solidFill>
            <a:srgbClr val="D1D5DB"/>
          </a:solidFill>
          <a:latin typeface="+mn-lt"/>
        </a:defRPr>
      </a:lvl1pPr>
      <a:lvl2pPr marL="0" indent="0" algn="l">
        <a:lnSpc>
          <a:spcPct val="120000"/>
        </a:lnSpc>
        <a:buNone/>
        <a:defRPr sz="1600" b="0">
          <a:solidFill>
            <a:srgbClr val="D1D5DB"/>
          </a:solidFill>
          <a:latin typeface="+mn-lt"/>
        </a:defRPr>
      </a:lvl2pPr>
      <a:lvl3pPr marL="0" indent="0" algn="l">
        <a:lnSpc>
          <a:spcPct val="120000"/>
        </a:lnSpc>
        <a:buNone/>
        <a:defRPr sz="1600" b="0">
          <a:solidFill>
            <a:srgbClr val="D1D5DB"/>
          </a:solidFill>
          <a:latin typeface="+mn-lt"/>
        </a:defRPr>
      </a:lvl3pPr>
      <a:lvl4pPr marL="0" indent="0" algn="l">
        <a:lnSpc>
          <a:spcPct val="120000"/>
        </a:lnSpc>
        <a:buNone/>
        <a:defRPr sz="1600" b="0">
          <a:solidFill>
            <a:srgbClr val="D1D5DB"/>
          </a:solidFill>
          <a:latin typeface="+mn-lt"/>
        </a:defRPr>
      </a:lvl4pPr>
      <a:lvl5pPr marL="0" indent="0" algn="l">
        <a:lnSpc>
          <a:spcPct val="120000"/>
        </a:lnSpc>
        <a:buNone/>
        <a:defRPr sz="1600" b="0">
          <a:solidFill>
            <a:srgbClr val="D1D5DB"/>
          </a:solidFill>
          <a:latin typeface="+mn-lt"/>
        </a:defRPr>
      </a:lvl5pPr>
      <a:lvl6pPr marL="0" indent="0" algn="l">
        <a:lnSpc>
          <a:spcPct val="120000"/>
        </a:lnSpc>
        <a:buNone/>
        <a:defRPr sz="1600" b="0">
          <a:solidFill>
            <a:srgbClr val="D1D5DB"/>
          </a:solidFill>
          <a:latin typeface="+mn-lt"/>
        </a:defRPr>
      </a:lvl6pPr>
      <a:lvl7pPr marL="0" indent="0" algn="l">
        <a:lnSpc>
          <a:spcPct val="120000"/>
        </a:lnSpc>
        <a:buNone/>
        <a:defRPr sz="1600" b="0">
          <a:solidFill>
            <a:srgbClr val="D1D5DB"/>
          </a:solidFill>
          <a:latin typeface="+mn-lt"/>
        </a:defRPr>
      </a:lvl7pPr>
      <a:lvl8pPr marL="0" indent="0" algn="l">
        <a:lnSpc>
          <a:spcPct val="120000"/>
        </a:lnSpc>
        <a:buNone/>
        <a:defRPr sz="1600" b="0">
          <a:solidFill>
            <a:srgbClr val="D1D5DB"/>
          </a:solidFill>
          <a:latin typeface="+mn-lt"/>
        </a:defRPr>
      </a:lvl8pPr>
      <a:lvl9pPr marL="0" indent="0" algn="l">
        <a:lnSpc>
          <a:spcPct val="120000"/>
        </a:lnSpc>
        <a:buNone/>
        <a:defRPr sz="1600" b="0">
          <a:solidFill>
            <a:srgbClr val="D1D5DB"/>
          </a:solidFill>
          <a:latin typeface="+mn-lt"/>
        </a:defRPr>
      </a:lvl9pPr>
    </p:bodyStyle>
    <p:otherStyle>
      <a:lvl1pPr marL="0" indent="0" algn="l">
        <a:lnSpc>
          <a:spcPct val="120000"/>
        </a:lnSpc>
        <a:buNone/>
        <a:defRPr sz="1400" b="0">
          <a:solidFill>
            <a:srgbClr val="FFFFFF"/>
          </a:solidFill>
          <a:latin typeface="+mn-lt"/>
        </a:defRPr>
      </a:lvl1pPr>
      <a:lvl2pPr marL="0" indent="0" algn="l">
        <a:lnSpc>
          <a:spcPct val="120000"/>
        </a:lnSpc>
        <a:buNone/>
        <a:defRPr sz="1400" b="0">
          <a:solidFill>
            <a:srgbClr val="FFFFFF"/>
          </a:solidFill>
          <a:latin typeface="+mn-lt"/>
        </a:defRPr>
      </a:lvl2pPr>
      <a:lvl3pPr marL="0" indent="0" algn="l">
        <a:lnSpc>
          <a:spcPct val="120000"/>
        </a:lnSpc>
        <a:buNone/>
        <a:defRPr sz="1400" b="0">
          <a:solidFill>
            <a:srgbClr val="FFFFFF"/>
          </a:solidFill>
          <a:latin typeface="+mn-lt"/>
        </a:defRPr>
      </a:lvl3pPr>
      <a:lvl4pPr marL="0" indent="0" algn="l">
        <a:lnSpc>
          <a:spcPct val="120000"/>
        </a:lnSpc>
        <a:buNone/>
        <a:defRPr sz="1400" b="0">
          <a:solidFill>
            <a:srgbClr val="FFFFFF"/>
          </a:solidFill>
          <a:latin typeface="+mn-lt"/>
        </a:defRPr>
      </a:lvl4pPr>
      <a:lvl5pPr marL="0" indent="0" algn="l">
        <a:lnSpc>
          <a:spcPct val="120000"/>
        </a:lnSpc>
        <a:buNone/>
        <a:defRPr sz="1400" b="0">
          <a:solidFill>
            <a:srgbClr val="FFFFFF"/>
          </a:solidFill>
          <a:latin typeface="+mn-lt"/>
        </a:defRPr>
      </a:lvl5pPr>
      <a:lvl6pPr marL="0" indent="0" algn="l">
        <a:lnSpc>
          <a:spcPct val="120000"/>
        </a:lnSpc>
        <a:buNone/>
        <a:defRPr sz="1400" b="0">
          <a:solidFill>
            <a:srgbClr val="FFFFFF"/>
          </a:solidFill>
          <a:latin typeface="+mn-lt"/>
        </a:defRPr>
      </a:lvl6pPr>
      <a:lvl7pPr marL="0" indent="0" algn="l">
        <a:lnSpc>
          <a:spcPct val="120000"/>
        </a:lnSpc>
        <a:buNone/>
        <a:defRPr sz="1400" b="0">
          <a:solidFill>
            <a:srgbClr val="FFFFFF"/>
          </a:solidFill>
          <a:latin typeface="+mn-lt"/>
        </a:defRPr>
      </a:lvl7pPr>
      <a:lvl8pPr marL="0" indent="0" algn="l">
        <a:lnSpc>
          <a:spcPct val="120000"/>
        </a:lnSpc>
        <a:buNone/>
        <a:defRPr sz="1400" b="0">
          <a:solidFill>
            <a:srgbClr val="FFFFFF"/>
          </a:solidFill>
          <a:latin typeface="+mn-lt"/>
        </a:defRPr>
      </a:lvl8pPr>
      <a:lvl9pPr marL="0" indent="0" algn="l">
        <a:lnSpc>
          <a:spcPct val="120000"/>
        </a:lnSpc>
        <a:buNone/>
        <a:defRPr sz="1400" b="0">
          <a:solidFill>
            <a:srgbClr val="FFFFFF"/>
          </a:solidFill>
          <a:latin typeface="+mn-lt"/>
        </a:defRPr>
      </a:lvl9pPr>
    </p:otherStyle>
  </p:txStyles>
</p:sldMaster>
</file>

<file path=ppt/slides/_rels/slide1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5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8.xml"/><Relationship Id="rIdWord" Type="http://schemas.openxmlformats.org/officeDocument/2006/relationships/image" Target="../media/wordmark-white.png"/></Relationships>
</file>

<file path=ppt/slides/_rels/slide9.xml.rels><?xml version="1.0" encoding="UTF-8" standalone="yes"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body 50"/>
          <p:cNvSpPr>
            <a:spLocks noGrp="1"/>
          </p:cNvSpPr>
          <p:nvPr>
            <p:ph type="body" idx="10"/>
          </p:nvPr>
        </p:nvSpPr>
        <p:spPr>
          <a:xfrm>
            <a:off x="548640" y="1874520"/>
            <a:ext cx="8229600" cy="27432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Next-gen cinema advertising</a:t>
            </a:r>
          </a:p>
        </p:txBody>
      </p:sp>
      <p:sp>
        <p:nvSpPr>
          <p:cNvPr id="51" name="title 51"/>
          <p:cNvSpPr>
            <a:spLocks noGrp="1"/>
          </p:cNvSpPr>
          <p:nvPr>
            <p:ph type="title"/>
          </p:nvPr>
        </p:nvSpPr>
        <p:spPr>
          <a:xfrm>
            <a:off x="548640" y="2240280"/>
            <a:ext cx="10241280" cy="219456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We do digital cinema advertising.</a:t>
            </a:r>
          </a:p>
        </p:txBody>
      </p:sp>
      <p:sp>
        <p:nvSpPr>
          <p:cNvPr id="52" name="body 52"/>
          <p:cNvSpPr>
            <a:spLocks noGrp="1"/>
          </p:cNvSpPr>
          <p:nvPr>
            <p:ph type="body" idx="1"/>
          </p:nvPr>
        </p:nvSpPr>
        <p:spPr>
          <a:xfrm>
            <a:off x="548640" y="4572000"/>
            <a:ext cx="6583680" cy="9144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We help cinema companies create enduring and lasting value through digital advertising formats.</a:t>
            </a:r>
          </a:p>
        </p:txBody>
      </p:sp>
      <p:sp>
        <p:nvSpPr>
          <p:cNvPr id="53" name="Button"/>
          <p:cNvSpPr/>
          <p:nvPr/>
        </p:nvSpPr>
        <p:spPr>
          <a:xfrm>
            <a:off x="548640" y="5532120"/>
            <a:ext cx="2103120" cy="502920"/>
          </a:xfrm>
          <a:prstGeom prst="rect">
            <a:avLst/>
          </a:prstGeom>
          <a:solidFill>
            <a:srgbClr val="0A0A0C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100" b="1" spc="150" dirty="0">
                <a:solidFill>
                  <a:srgbClr val="FFFFFF"/>
                </a:solidFill>
                <a:latin typeface="+mn-lt"/>
              </a:rPr>
              <a:t>GET IN TOUCH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4" name="body 54"/>
          <p:cNvSpPr>
            <a:spLocks noGrp="1"/>
          </p:cNvSpPr>
          <p:nvPr>
            <p:ph type="body" idx="10"/>
          </p:nvPr>
        </p:nvSpPr>
        <p:spPr>
          <a:xfrm>
            <a:off x="548640" y="2377440"/>
            <a:ext cx="8229600" cy="27432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Section 01</a:t>
            </a:r>
          </a:p>
        </p:txBody>
      </p:sp>
      <p:sp>
        <p:nvSpPr>
          <p:cNvPr id="55" name="title 55"/>
          <p:cNvSpPr>
            <a:spLocks noGrp="1"/>
          </p:cNvSpPr>
          <p:nvPr>
            <p:ph type="title"/>
          </p:nvPr>
        </p:nvSpPr>
        <p:spPr>
          <a:xfrm>
            <a:off x="548640" y="2743200"/>
            <a:ext cx="10515600" cy="18288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Engage the cinema core audience</a:t>
            </a:r>
          </a:p>
        </p:txBody>
      </p:sp>
      <p:sp>
        <p:nvSpPr>
          <p:cNvPr id="56" name="Slide number 56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2" name="body 72"/>
          <p:cNvSpPr>
            <a:spLocks noGrp="1"/>
          </p:cNvSpPr>
          <p:nvPr>
            <p:ph type="body" idx="10"/>
          </p:nvPr>
        </p:nvSpPr>
        <p:spPr>
          <a:xfrm>
            <a:off x="548640" y="685800"/>
            <a:ext cx="3017520" cy="27432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What we do</a:t>
            </a:r>
          </a:p>
        </p:txBody>
      </p:sp>
      <p:sp>
        <p:nvSpPr>
          <p:cNvPr id="73" name="title 73"/>
          <p:cNvSpPr>
            <a:spLocks noGrp="1"/>
          </p:cNvSpPr>
          <p:nvPr>
            <p:ph type="title"/>
          </p:nvPr>
        </p:nvSpPr>
        <p:spPr>
          <a:xfrm>
            <a:off x="548640" y="1005840"/>
            <a:ext cx="3017520" cy="13716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Products</a:t>
            </a:r>
          </a:p>
        </p:txBody>
      </p:sp>
      <p:sp>
        <p:nvSpPr>
          <p:cNvPr id="74" name="body 74"/>
          <p:cNvSpPr>
            <a:spLocks noGrp="1"/>
          </p:cNvSpPr>
          <p:nvPr>
            <p:ph type="body" idx="1"/>
          </p:nvPr>
        </p:nvSpPr>
        <p:spPr>
          <a:xfrm>
            <a:off x="548640" y="2514600"/>
            <a:ext cx="3017520" cy="329184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Bringing interactivity to the cinema preshow with a range of engaging advertising formats for the cinema core audience.</a:t>
            </a:r>
          </a:p>
        </p:txBody>
      </p:sp>
      <p:sp>
        <p:nvSpPr>
          <p:cNvPr id="57" name="Card"/>
          <p:cNvSpPr/>
          <p:nvPr/>
        </p:nvSpPr>
        <p:spPr>
          <a:xfrm>
            <a:off x="3840480" y="685800"/>
            <a:ext cx="2417978" cy="5120640"/>
          </a:xfrm>
          <a:prstGeom prst="roundRect">
            <a:avLst>
              <a:gd name="adj" fmla="val 8320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</p:sp>
      <p:sp>
        <p:nvSpPr>
          <p:cNvPr id="58" name="Icon tile"/>
          <p:cNvSpPr/>
          <p:nvPr/>
        </p:nvSpPr>
        <p:spPr>
          <a:xfrm>
            <a:off x="4114800" y="9601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3DC0C8">
              <a:alpha val="18000"/>
            </a:srgbClr>
          </a:solidFill>
          <a:ln w="12700">
            <a:solidFill>
              <a:srgbClr val="3DC0C8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600" b="1" dirty="0">
                <a:solidFill>
                  <a:srgbClr val="3DC0C8"/>
                </a:solidFill>
                <a:latin typeface="+mj-lt"/>
              </a:rPr>
              <a:t>▶</a:t>
            </a:r>
          </a:p>
        </p:txBody>
      </p:sp>
      <p:sp>
        <p:nvSpPr>
          <p:cNvPr id="59" name="Card title"/>
          <p:cNvSpPr txBox="1"/>
          <p:nvPr/>
        </p:nvSpPr>
        <p:spPr>
          <a:xfrm>
            <a:off x="4114800" y="1828800"/>
            <a:ext cx="186933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500" b="1" cap="all" dirty="0">
                <a:solidFill>
                  <a:srgbClr val="FFFFFF"/>
                </a:solidFill>
                <a:latin typeface="+mj-lt"/>
              </a:rPr>
              <a:t>Programmatic</a:t>
            </a:r>
          </a:p>
        </p:txBody>
      </p:sp>
      <p:sp>
        <p:nvSpPr>
          <p:cNvPr id="60" name="Card text"/>
          <p:cNvSpPr txBox="1"/>
          <p:nvPr/>
        </p:nvSpPr>
        <p:spPr>
          <a:xfrm>
            <a:off x="4114800" y="2331720"/>
            <a:ext cx="1869338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GB" sz="1300" b="0" dirty="0">
                <a:solidFill>
                  <a:srgbClr val="D1D5DB"/>
                </a:solidFill>
                <a:latin typeface="+mn-lt"/>
              </a:rPr>
              <a:t>Automated, targetable and transparent cinema ad buying with real-time impression reporting.</a:t>
            </a:r>
          </a:p>
        </p:txBody>
      </p:sp>
      <p:sp>
        <p:nvSpPr>
          <p:cNvPr id="61" name="Card link"/>
          <p:cNvSpPr txBox="1"/>
          <p:nvPr/>
        </p:nvSpPr>
        <p:spPr>
          <a:xfrm>
            <a:off x="4114800" y="5257800"/>
            <a:ext cx="18693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00" b="1" cap="all" spc="200" dirty="0">
                <a:solidFill>
                  <a:srgbClr val="3DC0C8"/>
                </a:solidFill>
                <a:latin typeface="+mn-lt"/>
              </a:rPr>
              <a:t>LEARN MORE  →</a:t>
            </a:r>
          </a:p>
        </p:txBody>
      </p:sp>
      <p:sp>
        <p:nvSpPr>
          <p:cNvPr id="62" name="Card"/>
          <p:cNvSpPr/>
          <p:nvPr/>
        </p:nvSpPr>
        <p:spPr>
          <a:xfrm>
            <a:off x="6532778" y="685800"/>
            <a:ext cx="2417978" cy="5120640"/>
          </a:xfrm>
          <a:prstGeom prst="roundRect">
            <a:avLst>
              <a:gd name="adj" fmla="val 8320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</p:sp>
      <p:sp>
        <p:nvSpPr>
          <p:cNvPr id="63" name="Icon tile"/>
          <p:cNvSpPr/>
          <p:nvPr/>
        </p:nvSpPr>
        <p:spPr>
          <a:xfrm>
            <a:off x="6807098" y="9601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F869B9">
              <a:alpha val="18000"/>
            </a:srgbClr>
          </a:solidFill>
          <a:ln w="12700">
            <a:solidFill>
              <a:srgbClr val="F869B9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600" b="1" dirty="0">
                <a:solidFill>
                  <a:srgbClr val="F869B9"/>
                </a:solidFill>
                <a:latin typeface="+mj-lt"/>
              </a:rPr>
              <a:t>◆</a:t>
            </a:r>
          </a:p>
        </p:txBody>
      </p:sp>
      <p:sp>
        <p:nvSpPr>
          <p:cNvPr id="64" name="Card title"/>
          <p:cNvSpPr txBox="1"/>
          <p:nvPr/>
        </p:nvSpPr>
        <p:spPr>
          <a:xfrm>
            <a:off x="6807098" y="1828800"/>
            <a:ext cx="186933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500" b="1" cap="all" dirty="0">
                <a:solidFill>
                  <a:srgbClr val="FFFFFF"/>
                </a:solidFill>
                <a:latin typeface="+mj-lt"/>
              </a:rPr>
              <a:t>CineGame</a:t>
            </a:r>
          </a:p>
        </p:txBody>
      </p:sp>
      <p:sp>
        <p:nvSpPr>
          <p:cNvPr id="65" name="Card text"/>
          <p:cNvSpPr txBox="1"/>
          <p:nvPr/>
        </p:nvSpPr>
        <p:spPr>
          <a:xfrm>
            <a:off x="6807098" y="2331720"/>
            <a:ext cx="1869338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GB" sz="1300" b="0" dirty="0">
                <a:solidFill>
                  <a:srgbClr val="D1D5DB"/>
                </a:solidFill>
                <a:latin typeface="+mn-lt"/>
              </a:rPr>
              <a:t>Whole auditoriums play branded games on the big screen, using their phones as controllers.</a:t>
            </a:r>
          </a:p>
        </p:txBody>
      </p:sp>
      <p:sp>
        <p:nvSpPr>
          <p:cNvPr id="66" name="Card link"/>
          <p:cNvSpPr txBox="1"/>
          <p:nvPr/>
        </p:nvSpPr>
        <p:spPr>
          <a:xfrm>
            <a:off x="6807098" y="5257800"/>
            <a:ext cx="18693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00" b="1" cap="all" spc="200" dirty="0">
                <a:solidFill>
                  <a:srgbClr val="F869B9"/>
                </a:solidFill>
                <a:latin typeface="+mn-lt"/>
              </a:rPr>
              <a:t>LEARN MORE  →</a:t>
            </a:r>
          </a:p>
        </p:txBody>
      </p:sp>
      <p:sp>
        <p:nvSpPr>
          <p:cNvPr id="67" name="Card"/>
          <p:cNvSpPr/>
          <p:nvPr/>
        </p:nvSpPr>
        <p:spPr>
          <a:xfrm>
            <a:off x="9225077" y="685800"/>
            <a:ext cx="2417978" cy="5120640"/>
          </a:xfrm>
          <a:prstGeom prst="roundRect">
            <a:avLst>
              <a:gd name="adj" fmla="val 8320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</p:sp>
      <p:sp>
        <p:nvSpPr>
          <p:cNvPr id="68" name="Icon tile"/>
          <p:cNvSpPr/>
          <p:nvPr/>
        </p:nvSpPr>
        <p:spPr>
          <a:xfrm>
            <a:off x="9499397" y="960120"/>
            <a:ext cx="566928" cy="566928"/>
          </a:xfrm>
          <a:prstGeom prst="roundRect">
            <a:avLst>
              <a:gd name="adj" fmla="val 22581"/>
            </a:avLst>
          </a:prstGeom>
          <a:solidFill>
            <a:srgbClr val="6CEEC4">
              <a:alpha val="18000"/>
            </a:srgbClr>
          </a:solidFill>
          <a:ln w="12700">
            <a:solidFill>
              <a:srgbClr val="6CEEC4"/>
            </a:solidFill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1600" b="1" dirty="0">
                <a:solidFill>
                  <a:srgbClr val="6CEEC4"/>
                </a:solidFill>
                <a:latin typeface="+mj-lt"/>
              </a:rPr>
              <a:t>★</a:t>
            </a:r>
          </a:p>
        </p:txBody>
      </p:sp>
      <p:sp>
        <p:nvSpPr>
          <p:cNvPr id="69" name="Card title"/>
          <p:cNvSpPr txBox="1"/>
          <p:nvPr/>
        </p:nvSpPr>
        <p:spPr>
          <a:xfrm>
            <a:off x="9499397" y="1828800"/>
            <a:ext cx="1869338" cy="4572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500" b="1" cap="all" dirty="0">
                <a:solidFill>
                  <a:srgbClr val="FFFFFF"/>
                </a:solidFill>
                <a:latin typeface="+mj-lt"/>
              </a:rPr>
              <a:t>CineFun</a:t>
            </a:r>
          </a:p>
        </p:txBody>
      </p:sp>
      <p:sp>
        <p:nvSpPr>
          <p:cNvPr id="70" name="Card text"/>
          <p:cNvSpPr txBox="1"/>
          <p:nvPr/>
        </p:nvSpPr>
        <p:spPr>
          <a:xfrm>
            <a:off x="9499397" y="2331720"/>
            <a:ext cx="1869338" cy="283464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GB" sz="1300" b="0" dirty="0">
                <a:solidFill>
                  <a:srgbClr val="D1D5DB"/>
                </a:solidFill>
                <a:latin typeface="+mn-lt"/>
              </a:rPr>
              <a:t>Quizzes, lobby kiosks and loyalty tie-ins that entertain moviegoers before and after the film.</a:t>
            </a:r>
          </a:p>
        </p:txBody>
      </p:sp>
      <p:sp>
        <p:nvSpPr>
          <p:cNvPr id="71" name="Card link"/>
          <p:cNvSpPr txBox="1"/>
          <p:nvPr/>
        </p:nvSpPr>
        <p:spPr>
          <a:xfrm>
            <a:off x="9499397" y="5257800"/>
            <a:ext cx="1869338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00" b="1" cap="all" spc="200" dirty="0">
                <a:solidFill>
                  <a:srgbClr val="6CEEC4"/>
                </a:solidFill>
                <a:latin typeface="+mn-lt"/>
              </a:rPr>
              <a:t>LEARN MORE  →</a:t>
            </a:r>
          </a:p>
        </p:txBody>
      </p:sp>
      <p:sp>
        <p:nvSpPr>
          <p:cNvPr id="75" name="Slide number 7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body 85"/>
          <p:cNvSpPr>
            <a:spLocks noGrp="1"/>
          </p:cNvSpPr>
          <p:nvPr>
            <p:ph type="body" idx="10"/>
          </p:nvPr>
        </p:nvSpPr>
        <p:spPr>
          <a:xfrm>
            <a:off x="548640" y="685800"/>
            <a:ext cx="8229600" cy="27432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Audience</a:t>
            </a:r>
          </a:p>
        </p:txBody>
      </p:sp>
      <p:sp>
        <p:nvSpPr>
          <p:cNvPr id="86" name="title 86"/>
          <p:cNvSpPr>
            <a:spLocks noGrp="1"/>
          </p:cNvSpPr>
          <p:nvPr>
            <p:ph type="title"/>
          </p:nvPr>
        </p:nvSpPr>
        <p:spPr>
          <a:xfrm>
            <a:off x="548640" y="1005840"/>
            <a:ext cx="10972800" cy="82296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The numbers that matter</a:t>
            </a:r>
          </a:p>
        </p:txBody>
      </p:sp>
      <p:sp>
        <p:nvSpPr>
          <p:cNvPr id="76" name="Stat card"/>
          <p:cNvSpPr/>
          <p:nvPr/>
        </p:nvSpPr>
        <p:spPr>
          <a:xfrm>
            <a:off x="548640" y="2148840"/>
            <a:ext cx="3515258" cy="3566160"/>
          </a:xfrm>
          <a:prstGeom prst="roundRect">
            <a:avLst>
              <a:gd name="adj" fmla="val 5723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</p:sp>
      <p:sp>
        <p:nvSpPr>
          <p:cNvPr id="77" name="Stat number"/>
          <p:cNvSpPr txBox="1"/>
          <p:nvPr/>
        </p:nvSpPr>
        <p:spPr>
          <a:xfrm>
            <a:off x="914400" y="2514600"/>
            <a:ext cx="2783738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4800" b="1" dirty="0">
                <a:solidFill>
                  <a:srgbClr val="F869B9"/>
                </a:solidFill>
                <a:latin typeface="+mj-lt"/>
              </a:rPr>
              <a:t>10–15%</a:t>
            </a:r>
          </a:p>
        </p:txBody>
      </p:sp>
      <p:sp>
        <p:nvSpPr>
          <p:cNvPr id="78" name="Stat text"/>
          <p:cNvSpPr txBox="1"/>
          <p:nvPr/>
        </p:nvSpPr>
        <p:spPr>
          <a:xfrm>
            <a:off x="914400" y="3977640"/>
            <a:ext cx="2783738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GB" sz="1500" b="0" dirty="0">
                <a:solidFill>
                  <a:srgbClr val="D1D5DB"/>
                </a:solidFill>
                <a:latin typeface="+mn-lt"/>
              </a:rPr>
              <a:t>of the cinema audience engage with one or more Cinemataztic products</a:t>
            </a:r>
          </a:p>
        </p:txBody>
      </p:sp>
      <p:sp>
        <p:nvSpPr>
          <p:cNvPr id="79" name="Stat card"/>
          <p:cNvSpPr/>
          <p:nvPr/>
        </p:nvSpPr>
        <p:spPr>
          <a:xfrm>
            <a:off x="4338218" y="2148840"/>
            <a:ext cx="3515258" cy="3566160"/>
          </a:xfrm>
          <a:prstGeom prst="roundRect">
            <a:avLst>
              <a:gd name="adj" fmla="val 5723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</p:sp>
      <p:sp>
        <p:nvSpPr>
          <p:cNvPr id="80" name="Stat number"/>
          <p:cNvSpPr txBox="1"/>
          <p:nvPr/>
        </p:nvSpPr>
        <p:spPr>
          <a:xfrm>
            <a:off x="4703978" y="2514600"/>
            <a:ext cx="2783738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4800" b="1" dirty="0">
                <a:solidFill>
                  <a:srgbClr val="3DC0C8"/>
                </a:solidFill>
                <a:latin typeface="+mj-lt"/>
              </a:rPr>
              <a:t>13–45</a:t>
            </a:r>
          </a:p>
        </p:txBody>
      </p:sp>
      <p:sp>
        <p:nvSpPr>
          <p:cNvPr id="81" name="Stat text"/>
          <p:cNvSpPr txBox="1"/>
          <p:nvPr/>
        </p:nvSpPr>
        <p:spPr>
          <a:xfrm>
            <a:off x="4703978" y="3977640"/>
            <a:ext cx="2783738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GB" sz="1500" b="0" dirty="0">
                <a:solidFill>
                  <a:srgbClr val="D1D5DB"/>
                </a:solidFill>
                <a:latin typeface="+mn-lt"/>
              </a:rPr>
              <a:t>the age of the core user profile, from Gen Z to Millennials</a:t>
            </a:r>
          </a:p>
        </p:txBody>
      </p:sp>
      <p:sp>
        <p:nvSpPr>
          <p:cNvPr id="82" name="Stat card"/>
          <p:cNvSpPr/>
          <p:nvPr/>
        </p:nvSpPr>
        <p:spPr>
          <a:xfrm>
            <a:off x="8127797" y="2148840"/>
            <a:ext cx="3515258" cy="3566160"/>
          </a:xfrm>
          <a:prstGeom prst="roundRect">
            <a:avLst>
              <a:gd name="adj" fmla="val 5723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</p:sp>
      <p:sp>
        <p:nvSpPr>
          <p:cNvPr id="83" name="Stat number"/>
          <p:cNvSpPr txBox="1"/>
          <p:nvPr/>
        </p:nvSpPr>
        <p:spPr>
          <a:xfrm>
            <a:off x="8493557" y="2514600"/>
            <a:ext cx="2783738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4800" b="1" dirty="0">
                <a:solidFill>
                  <a:srgbClr val="6CEEC4"/>
                </a:solidFill>
                <a:latin typeface="+mj-lt"/>
              </a:rPr>
              <a:t>57</a:t>
            </a:r>
          </a:p>
        </p:txBody>
      </p:sp>
      <p:sp>
        <p:nvSpPr>
          <p:cNvPr id="84" name="Stat text"/>
          <p:cNvSpPr txBox="1"/>
          <p:nvPr/>
        </p:nvSpPr>
        <p:spPr>
          <a:xfrm>
            <a:off x="8493557" y="3977640"/>
            <a:ext cx="2783738" cy="1371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GB" sz="1500" b="0" dirty="0">
                <a:solidFill>
                  <a:srgbClr val="D1D5DB"/>
                </a:solidFill>
                <a:latin typeface="+mn-lt"/>
              </a:rPr>
              <a:t>published campaigns for brands across the Nordics and Germany</a:t>
            </a:r>
          </a:p>
        </p:txBody>
      </p:sp>
      <p:sp>
        <p:nvSpPr>
          <p:cNvPr id="87" name="Slide number 87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2" name="body 142"/>
          <p:cNvSpPr>
            <a:spLocks noGrp="1"/>
          </p:cNvSpPr>
          <p:nvPr>
            <p:ph type="body" idx="10"/>
          </p:nvPr>
        </p:nvSpPr>
        <p:spPr>
          <a:xfrm>
            <a:off x="548640" y="685800"/>
            <a:ext cx="3017520" cy="27432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Audience</a:t>
            </a:r>
          </a:p>
        </p:txBody>
      </p:sp>
      <p:sp>
        <p:nvSpPr>
          <p:cNvPr id="143" name="title 143"/>
          <p:cNvSpPr>
            <a:spLocks noGrp="1"/>
          </p:cNvSpPr>
          <p:nvPr>
            <p:ph type="title"/>
          </p:nvPr>
        </p:nvSpPr>
        <p:spPr>
          <a:xfrm>
            <a:off x="548640" y="1005840"/>
            <a:ext cx="3017520" cy="13716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The best of two worlds</a:t>
            </a:r>
          </a:p>
        </p:txBody>
      </p:sp>
      <p:sp>
        <p:nvSpPr>
          <p:cNvPr id="144" name="body 144"/>
          <p:cNvSpPr>
            <a:spLocks noGrp="1"/>
          </p:cNvSpPr>
          <p:nvPr>
            <p:ph type="body" idx="1"/>
          </p:nvPr>
        </p:nvSpPr>
        <p:spPr>
          <a:xfrm>
            <a:off x="548640" y="2514600"/>
            <a:ext cx="3017520" cy="329184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10–15% of the cinema audience engage with one or more Cinemataztic products, and the user profile is primarily between the age of 13 and 45.</a:t>
            </a:r>
          </a:p>
        </p:txBody>
      </p:sp>
      <p:sp>
        <p:nvSpPr>
          <p:cNvPr id="134" name="Legend swatch"/>
          <p:cNvSpPr/>
          <p:nvPr/>
        </p:nvSpPr>
        <p:spPr>
          <a:xfrm>
            <a:off x="4343400" y="804672"/>
            <a:ext cx="128016" cy="128016"/>
          </a:xfrm>
          <a:prstGeom prst="rect">
            <a:avLst/>
          </a:prstGeom>
          <a:solidFill>
            <a:srgbClr val="F869B9"/>
          </a:solidFill>
          <a:ln>
            <a:noFill/>
          </a:ln>
          <a:effectLst>
            <a:glow rad="38100">
              <a:srgbClr val="F869B9">
                <a:alpha val="40000"/>
              </a:srgbClr>
            </a:glow>
          </a:effectLst>
        </p:spPr>
      </p:sp>
      <p:sp>
        <p:nvSpPr>
          <p:cNvPr id="135" name="Legend"/>
          <p:cNvSpPr txBox="1"/>
          <p:nvPr/>
        </p:nvSpPr>
        <p:spPr>
          <a:xfrm>
            <a:off x="4562856" y="731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00" b="1" cap="all" spc="200" dirty="0">
                <a:solidFill>
                  <a:srgbClr val="D1D5DB"/>
                </a:solidFill>
                <a:latin typeface="+mn-lt"/>
              </a:rPr>
              <a:t>Gen Z</a:t>
            </a:r>
          </a:p>
        </p:txBody>
      </p:sp>
      <p:sp>
        <p:nvSpPr>
          <p:cNvPr id="136" name="Legend swatch"/>
          <p:cNvSpPr/>
          <p:nvPr/>
        </p:nvSpPr>
        <p:spPr>
          <a:xfrm>
            <a:off x="5394960" y="804672"/>
            <a:ext cx="128016" cy="128016"/>
          </a:xfrm>
          <a:prstGeom prst="rect">
            <a:avLst/>
          </a:prstGeom>
          <a:solidFill>
            <a:srgbClr val="FEA917"/>
          </a:solidFill>
          <a:ln>
            <a:noFill/>
          </a:ln>
          <a:effectLst>
            <a:glow rad="38100">
              <a:srgbClr val="FEA917">
                <a:alpha val="40000"/>
              </a:srgbClr>
            </a:glow>
          </a:effectLst>
        </p:spPr>
      </p:sp>
      <p:sp>
        <p:nvSpPr>
          <p:cNvPr id="137" name="Legend"/>
          <p:cNvSpPr txBox="1"/>
          <p:nvPr/>
        </p:nvSpPr>
        <p:spPr>
          <a:xfrm>
            <a:off x="5614416" y="731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00" b="1" cap="all" spc="200" dirty="0">
                <a:solidFill>
                  <a:srgbClr val="D1D5DB"/>
                </a:solidFill>
                <a:latin typeface="+mn-lt"/>
              </a:rPr>
              <a:t>Millennials</a:t>
            </a:r>
          </a:p>
        </p:txBody>
      </p:sp>
      <p:sp>
        <p:nvSpPr>
          <p:cNvPr id="138" name="Legend swatch"/>
          <p:cNvSpPr/>
          <p:nvPr/>
        </p:nvSpPr>
        <p:spPr>
          <a:xfrm>
            <a:off x="7040880" y="804672"/>
            <a:ext cx="128016" cy="128016"/>
          </a:xfrm>
          <a:prstGeom prst="rect">
            <a:avLst/>
          </a:prstGeom>
          <a:solidFill>
            <a:srgbClr val="6CEEC4"/>
          </a:solidFill>
          <a:ln>
            <a:noFill/>
          </a:ln>
          <a:effectLst>
            <a:glow rad="38100">
              <a:srgbClr val="6CEEC4">
                <a:alpha val="40000"/>
              </a:srgbClr>
            </a:glow>
          </a:effectLst>
        </p:spPr>
      </p:sp>
      <p:sp>
        <p:nvSpPr>
          <p:cNvPr id="139" name="Legend"/>
          <p:cNvSpPr txBox="1"/>
          <p:nvPr/>
        </p:nvSpPr>
        <p:spPr>
          <a:xfrm>
            <a:off x="7260336" y="731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00" b="1" cap="all" spc="200" dirty="0">
                <a:solidFill>
                  <a:srgbClr val="D1D5DB"/>
                </a:solidFill>
                <a:latin typeface="+mn-lt"/>
              </a:rPr>
              <a:t>Gen X</a:t>
            </a:r>
          </a:p>
        </p:txBody>
      </p:sp>
      <p:sp>
        <p:nvSpPr>
          <p:cNvPr id="140" name="Legend swatch"/>
          <p:cNvSpPr/>
          <p:nvPr/>
        </p:nvSpPr>
        <p:spPr>
          <a:xfrm>
            <a:off x="8092440" y="804672"/>
            <a:ext cx="128016" cy="128016"/>
          </a:xfrm>
          <a:prstGeom prst="rect">
            <a:avLst/>
          </a:prstGeom>
          <a:solidFill>
            <a:srgbClr val="00A8B0"/>
          </a:solidFill>
          <a:ln>
            <a:noFill/>
          </a:ln>
          <a:effectLst>
            <a:glow rad="38100">
              <a:srgbClr val="00A8B0">
                <a:alpha val="40000"/>
              </a:srgbClr>
            </a:glow>
          </a:effectLst>
        </p:spPr>
      </p:sp>
      <p:sp>
        <p:nvSpPr>
          <p:cNvPr id="141" name="Legend"/>
          <p:cNvSpPr txBox="1"/>
          <p:nvPr/>
        </p:nvSpPr>
        <p:spPr>
          <a:xfrm>
            <a:off x="8311896" y="731520"/>
            <a:ext cx="1280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000" b="1" cap="all" spc="200" dirty="0">
                <a:solidFill>
                  <a:srgbClr val="D1D5DB"/>
                </a:solidFill>
                <a:latin typeface="+mn-lt"/>
              </a:rPr>
              <a:t>Boomers</a:t>
            </a:r>
          </a:p>
        </p:txBody>
      </p:sp>
      <p:cxnSp>
        <p:nvCxnSpPr>
          <p:cNvPr id="88" name="Gridline"/>
          <p:cNvCxnSpPr/>
          <p:nvPr/>
        </p:nvCxnSpPr>
        <p:spPr>
          <a:xfrm>
            <a:off x="4343400" y="5303520"/>
            <a:ext cx="7178040" cy="0"/>
          </a:xfrm>
          <a:prstGeom prst="line">
            <a:avLst/>
          </a:prstGeom>
          <a:ln w="15875">
            <a:solidFill>
              <a:srgbClr val="FFFFFF">
                <a:alpha val="45000"/>
              </a:srgbClr>
            </a:solidFill>
          </a:ln>
        </p:spPr>
      </p:cxnSp>
      <p:sp>
        <p:nvSpPr>
          <p:cNvPr id="89" name="Axis label"/>
          <p:cNvSpPr txBox="1"/>
          <p:nvPr/>
        </p:nvSpPr>
        <p:spPr>
          <a:xfrm>
            <a:off x="3749040" y="519379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en-GB" sz="1000" b="0" dirty="0">
                <a:solidFill>
                  <a:srgbClr val="9CA3AF"/>
                </a:solidFill>
                <a:latin typeface="+mn-lt"/>
              </a:rPr>
              <a:t>0%</a:t>
            </a:r>
          </a:p>
        </p:txBody>
      </p:sp>
      <p:cxnSp>
        <p:nvCxnSpPr>
          <p:cNvPr id="90" name="Gridline"/>
          <p:cNvCxnSpPr/>
          <p:nvPr/>
        </p:nvCxnSpPr>
        <p:spPr>
          <a:xfrm>
            <a:off x="4343400" y="4748349"/>
            <a:ext cx="717804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</p:cxnSp>
      <p:sp>
        <p:nvSpPr>
          <p:cNvPr id="91" name="Axis label"/>
          <p:cNvSpPr txBox="1"/>
          <p:nvPr/>
        </p:nvSpPr>
        <p:spPr>
          <a:xfrm>
            <a:off x="3749040" y="4638621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en-GB" sz="1000" b="0" dirty="0">
                <a:solidFill>
                  <a:srgbClr val="9CA3AF"/>
                </a:solidFill>
                <a:latin typeface="+mn-lt"/>
              </a:rPr>
              <a:t>5%</a:t>
            </a:r>
          </a:p>
        </p:txBody>
      </p:sp>
      <p:cxnSp>
        <p:nvCxnSpPr>
          <p:cNvPr id="92" name="Gridline"/>
          <p:cNvCxnSpPr/>
          <p:nvPr/>
        </p:nvCxnSpPr>
        <p:spPr>
          <a:xfrm>
            <a:off x="4343400" y="4193177"/>
            <a:ext cx="717804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</p:cxnSp>
      <p:sp>
        <p:nvSpPr>
          <p:cNvPr id="93" name="Axis label"/>
          <p:cNvSpPr txBox="1"/>
          <p:nvPr/>
        </p:nvSpPr>
        <p:spPr>
          <a:xfrm>
            <a:off x="3749040" y="4083449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en-GB" sz="1000" b="0" dirty="0">
                <a:solidFill>
                  <a:srgbClr val="9CA3AF"/>
                </a:solidFill>
                <a:latin typeface="+mn-lt"/>
              </a:rPr>
              <a:t>10%</a:t>
            </a:r>
          </a:p>
        </p:txBody>
      </p:sp>
      <p:cxnSp>
        <p:nvCxnSpPr>
          <p:cNvPr id="94" name="Gridline"/>
          <p:cNvCxnSpPr/>
          <p:nvPr/>
        </p:nvCxnSpPr>
        <p:spPr>
          <a:xfrm>
            <a:off x="4343400" y="3638006"/>
            <a:ext cx="717804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</p:cxnSp>
      <p:sp>
        <p:nvSpPr>
          <p:cNvPr id="95" name="Axis label"/>
          <p:cNvSpPr txBox="1"/>
          <p:nvPr/>
        </p:nvSpPr>
        <p:spPr>
          <a:xfrm>
            <a:off x="3749040" y="3528278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en-GB" sz="1000" b="0" dirty="0">
                <a:solidFill>
                  <a:srgbClr val="9CA3AF"/>
                </a:solidFill>
                <a:latin typeface="+mn-lt"/>
              </a:rPr>
              <a:t>15%</a:t>
            </a:r>
          </a:p>
        </p:txBody>
      </p:sp>
      <p:cxnSp>
        <p:nvCxnSpPr>
          <p:cNvPr id="96" name="Gridline"/>
          <p:cNvCxnSpPr/>
          <p:nvPr/>
        </p:nvCxnSpPr>
        <p:spPr>
          <a:xfrm>
            <a:off x="4343400" y="3082834"/>
            <a:ext cx="717804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</p:cxnSp>
      <p:sp>
        <p:nvSpPr>
          <p:cNvPr id="97" name="Axis label"/>
          <p:cNvSpPr txBox="1"/>
          <p:nvPr/>
        </p:nvSpPr>
        <p:spPr>
          <a:xfrm>
            <a:off x="3749040" y="2973106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en-GB" sz="1000" b="0" dirty="0">
                <a:solidFill>
                  <a:srgbClr val="9CA3AF"/>
                </a:solidFill>
                <a:latin typeface="+mn-lt"/>
              </a:rPr>
              <a:t>20%</a:t>
            </a:r>
          </a:p>
        </p:txBody>
      </p:sp>
      <p:cxnSp>
        <p:nvCxnSpPr>
          <p:cNvPr id="98" name="Gridline"/>
          <p:cNvCxnSpPr/>
          <p:nvPr/>
        </p:nvCxnSpPr>
        <p:spPr>
          <a:xfrm>
            <a:off x="4343400" y="2527663"/>
            <a:ext cx="717804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</p:cxnSp>
      <p:sp>
        <p:nvSpPr>
          <p:cNvPr id="99" name="Axis label"/>
          <p:cNvSpPr txBox="1"/>
          <p:nvPr/>
        </p:nvSpPr>
        <p:spPr>
          <a:xfrm>
            <a:off x="3749040" y="2417935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en-GB" sz="1000" b="0" dirty="0">
                <a:solidFill>
                  <a:srgbClr val="9CA3AF"/>
                </a:solidFill>
                <a:latin typeface="+mn-lt"/>
              </a:rPr>
              <a:t>25%</a:t>
            </a:r>
          </a:p>
        </p:txBody>
      </p:sp>
      <p:cxnSp>
        <p:nvCxnSpPr>
          <p:cNvPr id="100" name="Gridline"/>
          <p:cNvCxnSpPr/>
          <p:nvPr/>
        </p:nvCxnSpPr>
        <p:spPr>
          <a:xfrm>
            <a:off x="4343400" y="1972491"/>
            <a:ext cx="717804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</p:cxnSp>
      <p:sp>
        <p:nvSpPr>
          <p:cNvPr id="101" name="Axis label"/>
          <p:cNvSpPr txBox="1"/>
          <p:nvPr/>
        </p:nvSpPr>
        <p:spPr>
          <a:xfrm>
            <a:off x="3749040" y="1862763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en-GB" sz="1000" b="0" dirty="0">
                <a:solidFill>
                  <a:srgbClr val="9CA3AF"/>
                </a:solidFill>
                <a:latin typeface="+mn-lt"/>
              </a:rPr>
              <a:t>30%</a:t>
            </a:r>
          </a:p>
        </p:txBody>
      </p:sp>
      <p:cxnSp>
        <p:nvCxnSpPr>
          <p:cNvPr id="102" name="Gridline"/>
          <p:cNvCxnSpPr/>
          <p:nvPr/>
        </p:nvCxnSpPr>
        <p:spPr>
          <a:xfrm>
            <a:off x="4343400" y="1417320"/>
            <a:ext cx="7178040" cy="0"/>
          </a:xfrm>
          <a:prstGeom prst="line">
            <a:avLst/>
          </a:prstGeom>
          <a:ln w="9525">
            <a:solidFill>
              <a:srgbClr val="FFFFFF">
                <a:alpha val="10000"/>
              </a:srgbClr>
            </a:solidFill>
          </a:ln>
        </p:spPr>
      </p:cxnSp>
      <p:sp>
        <p:nvSpPr>
          <p:cNvPr id="103" name="Axis label"/>
          <p:cNvSpPr txBox="1"/>
          <p:nvPr/>
        </p:nvSpPr>
        <p:spPr>
          <a:xfrm>
            <a:off x="3749040" y="1307592"/>
            <a:ext cx="502920" cy="2286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r">
              <a:buNone/>
            </a:pPr>
            <a:r>
              <a:rPr lang="en-GB" sz="1000" b="0" dirty="0">
                <a:solidFill>
                  <a:srgbClr val="9CA3AF"/>
                </a:solidFill>
                <a:latin typeface="+mn-lt"/>
              </a:rPr>
              <a:t>35%</a:t>
            </a:r>
          </a:p>
        </p:txBody>
      </p:sp>
      <p:sp>
        <p:nvSpPr>
          <p:cNvPr id="104" name="Bar 13–17"/>
          <p:cNvSpPr/>
          <p:nvPr/>
        </p:nvSpPr>
        <p:spPr>
          <a:xfrm>
            <a:off x="4486961" y="3082834"/>
            <a:ext cx="738313" cy="2220686"/>
          </a:xfrm>
          <a:prstGeom prst="rect">
            <a:avLst/>
          </a:prstGeom>
          <a:gradFill rotWithShape="1">
            <a:gsLst>
              <a:gs pos="0">
                <a:srgbClr val="FA9ED2"/>
              </a:gs>
              <a:gs pos="45000">
                <a:srgbClr val="F869B9"/>
              </a:gs>
              <a:gs pos="100000">
                <a:srgbClr val="AE4A82"/>
              </a:gs>
            </a:gsLst>
            <a:lin ang="0" scaled="0"/>
          </a:gradFill>
          <a:ln>
            <a:noFill/>
          </a:ln>
          <a:effectLst>
            <a:glow rad="88900">
              <a:srgbClr val="F869B9">
                <a:alpha val="35000"/>
              </a:srgbClr>
            </a:glow>
            <a:outerShdw blurRad="228600" dist="101600" dir="5400000" algn="t" rotWithShape="0">
              <a:srgbClr val="000000">
                <a:alpha val="70000"/>
              </a:srgbClr>
            </a:outerShdw>
          </a:effectLst>
        </p:spPr>
      </p:sp>
      <p:sp>
        <p:nvSpPr>
          <p:cNvPr id="105" name="Bar highlight"/>
          <p:cNvSpPr/>
          <p:nvPr/>
        </p:nvSpPr>
        <p:spPr>
          <a:xfrm>
            <a:off x="4486961" y="3082834"/>
            <a:ext cx="738313" cy="27432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</p:sp>
      <p:sp>
        <p:nvSpPr>
          <p:cNvPr id="106" name="Bar value"/>
          <p:cNvSpPr txBox="1"/>
          <p:nvPr/>
        </p:nvSpPr>
        <p:spPr>
          <a:xfrm>
            <a:off x="4304081" y="2790226"/>
            <a:ext cx="110407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000" b="1" dirty="0">
                <a:solidFill>
                  <a:srgbClr val="FFFFFF"/>
                </a:solidFill>
                <a:latin typeface="+mn-lt"/>
              </a:rPr>
              <a:t>20%</a:t>
            </a:r>
          </a:p>
        </p:txBody>
      </p:sp>
      <p:sp>
        <p:nvSpPr>
          <p:cNvPr id="107" name="Age group"/>
          <p:cNvSpPr txBox="1"/>
          <p:nvPr/>
        </p:nvSpPr>
        <p:spPr>
          <a:xfrm>
            <a:off x="4304081" y="5394960"/>
            <a:ext cx="110407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200" b="1" dirty="0">
                <a:solidFill>
                  <a:srgbClr val="D1D5DB"/>
                </a:solidFill>
                <a:latin typeface="+mn-lt"/>
              </a:rPr>
              <a:t>13–17</a:t>
            </a:r>
          </a:p>
        </p:txBody>
      </p:sp>
      <p:sp>
        <p:nvSpPr>
          <p:cNvPr id="108" name="Bar 18–24"/>
          <p:cNvSpPr/>
          <p:nvPr/>
        </p:nvSpPr>
        <p:spPr>
          <a:xfrm>
            <a:off x="5512395" y="1583871"/>
            <a:ext cx="738313" cy="3719649"/>
          </a:xfrm>
          <a:prstGeom prst="rect">
            <a:avLst/>
          </a:prstGeom>
          <a:gradFill rotWithShape="1">
            <a:gsLst>
              <a:gs pos="0">
                <a:srgbClr val="FA9ED2"/>
              </a:gs>
              <a:gs pos="45000">
                <a:srgbClr val="F869B9"/>
              </a:gs>
              <a:gs pos="100000">
                <a:srgbClr val="AE4A82"/>
              </a:gs>
            </a:gsLst>
            <a:lin ang="0" scaled="0"/>
          </a:gradFill>
          <a:ln>
            <a:noFill/>
          </a:ln>
          <a:effectLst>
            <a:glow rad="88900">
              <a:srgbClr val="F869B9">
                <a:alpha val="35000"/>
              </a:srgbClr>
            </a:glow>
            <a:outerShdw blurRad="228600" dist="101600" dir="5400000" algn="t" rotWithShape="0">
              <a:srgbClr val="000000">
                <a:alpha val="70000"/>
              </a:srgbClr>
            </a:outerShdw>
          </a:effectLst>
        </p:spPr>
      </p:sp>
      <p:sp>
        <p:nvSpPr>
          <p:cNvPr id="109" name="Bar highlight"/>
          <p:cNvSpPr/>
          <p:nvPr/>
        </p:nvSpPr>
        <p:spPr>
          <a:xfrm>
            <a:off x="5512395" y="1583871"/>
            <a:ext cx="738313" cy="27432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</p:sp>
      <p:sp>
        <p:nvSpPr>
          <p:cNvPr id="110" name="Bar value"/>
          <p:cNvSpPr txBox="1"/>
          <p:nvPr/>
        </p:nvSpPr>
        <p:spPr>
          <a:xfrm>
            <a:off x="5329515" y="1291263"/>
            <a:ext cx="110407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000" b="1" dirty="0">
                <a:solidFill>
                  <a:srgbClr val="FFFFFF"/>
                </a:solidFill>
                <a:latin typeface="+mn-lt"/>
              </a:rPr>
              <a:t>33.5%</a:t>
            </a:r>
          </a:p>
        </p:txBody>
      </p:sp>
      <p:sp>
        <p:nvSpPr>
          <p:cNvPr id="111" name="Age group"/>
          <p:cNvSpPr txBox="1"/>
          <p:nvPr/>
        </p:nvSpPr>
        <p:spPr>
          <a:xfrm>
            <a:off x="5329515" y="5394960"/>
            <a:ext cx="110407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200" b="1" dirty="0">
                <a:solidFill>
                  <a:srgbClr val="D1D5DB"/>
                </a:solidFill>
                <a:latin typeface="+mn-lt"/>
              </a:rPr>
              <a:t>18–24</a:t>
            </a:r>
          </a:p>
        </p:txBody>
      </p:sp>
      <p:sp>
        <p:nvSpPr>
          <p:cNvPr id="112" name="Bar 25–34"/>
          <p:cNvSpPr/>
          <p:nvPr/>
        </p:nvSpPr>
        <p:spPr>
          <a:xfrm>
            <a:off x="6537829" y="3360420"/>
            <a:ext cx="738313" cy="1943100"/>
          </a:xfrm>
          <a:prstGeom prst="rect">
            <a:avLst/>
          </a:prstGeom>
          <a:gradFill rotWithShape="1">
            <a:gsLst>
              <a:gs pos="0">
                <a:srgbClr val="FEC768"/>
              </a:gs>
              <a:gs pos="45000">
                <a:srgbClr val="FEA917"/>
              </a:gs>
              <a:gs pos="100000">
                <a:srgbClr val="B27610"/>
              </a:gs>
            </a:gsLst>
            <a:lin ang="0" scaled="0"/>
          </a:gradFill>
          <a:ln>
            <a:noFill/>
          </a:ln>
          <a:effectLst>
            <a:glow rad="88900">
              <a:srgbClr val="FEA917">
                <a:alpha val="35000"/>
              </a:srgbClr>
            </a:glow>
            <a:outerShdw blurRad="228600" dist="101600" dir="5400000" algn="t" rotWithShape="0">
              <a:srgbClr val="000000">
                <a:alpha val="70000"/>
              </a:srgbClr>
            </a:outerShdw>
          </a:effectLst>
        </p:spPr>
      </p:sp>
      <p:sp>
        <p:nvSpPr>
          <p:cNvPr id="113" name="Bar highlight"/>
          <p:cNvSpPr/>
          <p:nvPr/>
        </p:nvSpPr>
        <p:spPr>
          <a:xfrm>
            <a:off x="6537829" y="3360420"/>
            <a:ext cx="738313" cy="27432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</p:sp>
      <p:sp>
        <p:nvSpPr>
          <p:cNvPr id="114" name="Bar value"/>
          <p:cNvSpPr txBox="1"/>
          <p:nvPr/>
        </p:nvSpPr>
        <p:spPr>
          <a:xfrm>
            <a:off x="6354949" y="3067812"/>
            <a:ext cx="110407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000" b="1" dirty="0">
                <a:solidFill>
                  <a:srgbClr val="FFFFFF"/>
                </a:solidFill>
                <a:latin typeface="+mn-lt"/>
              </a:rPr>
              <a:t>17.5%</a:t>
            </a:r>
          </a:p>
        </p:txBody>
      </p:sp>
      <p:sp>
        <p:nvSpPr>
          <p:cNvPr id="115" name="Age group"/>
          <p:cNvSpPr txBox="1"/>
          <p:nvPr/>
        </p:nvSpPr>
        <p:spPr>
          <a:xfrm>
            <a:off x="6354949" y="5394960"/>
            <a:ext cx="110407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200" b="1" dirty="0">
                <a:solidFill>
                  <a:srgbClr val="D1D5DB"/>
                </a:solidFill>
                <a:latin typeface="+mn-lt"/>
              </a:rPr>
              <a:t>25–34</a:t>
            </a:r>
          </a:p>
        </p:txBody>
      </p:sp>
      <p:sp>
        <p:nvSpPr>
          <p:cNvPr id="116" name="Bar 35–44"/>
          <p:cNvSpPr/>
          <p:nvPr/>
        </p:nvSpPr>
        <p:spPr>
          <a:xfrm>
            <a:off x="7563264" y="3526971"/>
            <a:ext cx="350868" cy="1776549"/>
          </a:xfrm>
          <a:prstGeom prst="rect">
            <a:avLst/>
          </a:prstGeom>
          <a:gradFill rotWithShape="1">
            <a:gsLst>
              <a:gs pos="0">
                <a:srgbClr val="FEC768"/>
              </a:gs>
              <a:gs pos="45000">
                <a:srgbClr val="FEA917"/>
              </a:gs>
              <a:gs pos="100000">
                <a:srgbClr val="B27610"/>
              </a:gs>
            </a:gsLst>
            <a:lin ang="0" scaled="0"/>
          </a:gradFill>
          <a:ln>
            <a:noFill/>
          </a:ln>
          <a:effectLst>
            <a:glow rad="88900">
              <a:srgbClr val="FEA917">
                <a:alpha val="35000"/>
              </a:srgbClr>
            </a:glow>
            <a:outerShdw blurRad="228600" dist="101600" dir="5400000" algn="t" rotWithShape="0">
              <a:srgbClr val="000000">
                <a:alpha val="70000"/>
              </a:srgbClr>
            </a:outerShdw>
          </a:effectLst>
        </p:spPr>
      </p:sp>
      <p:sp>
        <p:nvSpPr>
          <p:cNvPr id="117" name="Bar highlight"/>
          <p:cNvSpPr/>
          <p:nvPr/>
        </p:nvSpPr>
        <p:spPr>
          <a:xfrm>
            <a:off x="7563264" y="3526971"/>
            <a:ext cx="350868" cy="27432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</p:sp>
      <p:sp>
        <p:nvSpPr>
          <p:cNvPr id="118" name="Bar 35–44"/>
          <p:cNvSpPr/>
          <p:nvPr/>
        </p:nvSpPr>
        <p:spPr>
          <a:xfrm>
            <a:off x="7950708" y="3526971"/>
            <a:ext cx="350868" cy="1776549"/>
          </a:xfrm>
          <a:prstGeom prst="rect">
            <a:avLst/>
          </a:prstGeom>
          <a:gradFill rotWithShape="1">
            <a:gsLst>
              <a:gs pos="0">
                <a:srgbClr val="9FF4D9"/>
              </a:gs>
              <a:gs pos="45000">
                <a:srgbClr val="6CEEC4"/>
              </a:gs>
              <a:gs pos="100000">
                <a:srgbClr val="4CA789"/>
              </a:gs>
            </a:gsLst>
            <a:lin ang="0" scaled="0"/>
          </a:gradFill>
          <a:ln>
            <a:noFill/>
          </a:ln>
          <a:effectLst>
            <a:glow rad="88900">
              <a:srgbClr val="6CEEC4">
                <a:alpha val="35000"/>
              </a:srgbClr>
            </a:glow>
            <a:outerShdw blurRad="228600" dist="101600" dir="5400000" algn="t" rotWithShape="0">
              <a:srgbClr val="000000">
                <a:alpha val="70000"/>
              </a:srgbClr>
            </a:outerShdw>
          </a:effectLst>
        </p:spPr>
      </p:sp>
      <p:sp>
        <p:nvSpPr>
          <p:cNvPr id="119" name="Bar highlight"/>
          <p:cNvSpPr/>
          <p:nvPr/>
        </p:nvSpPr>
        <p:spPr>
          <a:xfrm>
            <a:off x="7950708" y="3526971"/>
            <a:ext cx="350868" cy="27432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</p:sp>
      <p:sp>
        <p:nvSpPr>
          <p:cNvPr id="120" name="Bar value"/>
          <p:cNvSpPr txBox="1"/>
          <p:nvPr/>
        </p:nvSpPr>
        <p:spPr>
          <a:xfrm>
            <a:off x="7380384" y="3234363"/>
            <a:ext cx="110407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000" b="1" dirty="0">
                <a:solidFill>
                  <a:srgbClr val="FFFFFF"/>
                </a:solidFill>
                <a:latin typeface="+mn-lt"/>
              </a:rPr>
              <a:t>16%</a:t>
            </a:r>
          </a:p>
        </p:txBody>
      </p:sp>
      <p:sp>
        <p:nvSpPr>
          <p:cNvPr id="121" name="Age group"/>
          <p:cNvSpPr txBox="1"/>
          <p:nvPr/>
        </p:nvSpPr>
        <p:spPr>
          <a:xfrm>
            <a:off x="7380384" y="5394960"/>
            <a:ext cx="110407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200" b="1" dirty="0">
                <a:solidFill>
                  <a:srgbClr val="D1D5DB"/>
                </a:solidFill>
                <a:latin typeface="+mn-lt"/>
              </a:rPr>
              <a:t>35–44</a:t>
            </a:r>
          </a:p>
        </p:txBody>
      </p:sp>
      <p:sp>
        <p:nvSpPr>
          <p:cNvPr id="122" name="Bar 45–54"/>
          <p:cNvSpPr/>
          <p:nvPr/>
        </p:nvSpPr>
        <p:spPr>
          <a:xfrm>
            <a:off x="8588698" y="4304211"/>
            <a:ext cx="738313" cy="999309"/>
          </a:xfrm>
          <a:prstGeom prst="rect">
            <a:avLst/>
          </a:prstGeom>
          <a:gradFill rotWithShape="1">
            <a:gsLst>
              <a:gs pos="0">
                <a:srgbClr val="9FF4D9"/>
              </a:gs>
              <a:gs pos="45000">
                <a:srgbClr val="6CEEC4"/>
              </a:gs>
              <a:gs pos="100000">
                <a:srgbClr val="4CA789"/>
              </a:gs>
            </a:gsLst>
            <a:lin ang="0" scaled="0"/>
          </a:gradFill>
          <a:ln>
            <a:noFill/>
          </a:ln>
          <a:effectLst>
            <a:glow rad="88900">
              <a:srgbClr val="6CEEC4">
                <a:alpha val="35000"/>
              </a:srgbClr>
            </a:glow>
            <a:outerShdw blurRad="228600" dist="101600" dir="5400000" algn="t" rotWithShape="0">
              <a:srgbClr val="000000">
                <a:alpha val="70000"/>
              </a:srgbClr>
            </a:outerShdw>
          </a:effectLst>
        </p:spPr>
      </p:sp>
      <p:sp>
        <p:nvSpPr>
          <p:cNvPr id="123" name="Bar highlight"/>
          <p:cNvSpPr/>
          <p:nvPr/>
        </p:nvSpPr>
        <p:spPr>
          <a:xfrm>
            <a:off x="8588698" y="4304211"/>
            <a:ext cx="738313" cy="27432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</p:sp>
      <p:sp>
        <p:nvSpPr>
          <p:cNvPr id="124" name="Bar value"/>
          <p:cNvSpPr txBox="1"/>
          <p:nvPr/>
        </p:nvSpPr>
        <p:spPr>
          <a:xfrm>
            <a:off x="8405818" y="4011603"/>
            <a:ext cx="110407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000" b="1" dirty="0">
                <a:solidFill>
                  <a:srgbClr val="FFFFFF"/>
                </a:solidFill>
                <a:latin typeface="+mn-lt"/>
              </a:rPr>
              <a:t>9%</a:t>
            </a:r>
          </a:p>
        </p:txBody>
      </p:sp>
      <p:sp>
        <p:nvSpPr>
          <p:cNvPr id="125" name="Age group"/>
          <p:cNvSpPr txBox="1"/>
          <p:nvPr/>
        </p:nvSpPr>
        <p:spPr>
          <a:xfrm>
            <a:off x="8405818" y="5394960"/>
            <a:ext cx="110407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200" b="1" dirty="0">
                <a:solidFill>
                  <a:srgbClr val="D1D5DB"/>
                </a:solidFill>
                <a:latin typeface="+mn-lt"/>
              </a:rPr>
              <a:t>45–54</a:t>
            </a:r>
          </a:p>
        </p:txBody>
      </p:sp>
      <p:sp>
        <p:nvSpPr>
          <p:cNvPr id="126" name="Bar 55–64"/>
          <p:cNvSpPr/>
          <p:nvPr/>
        </p:nvSpPr>
        <p:spPr>
          <a:xfrm>
            <a:off x="9614132" y="5025934"/>
            <a:ext cx="738313" cy="277586"/>
          </a:xfrm>
          <a:prstGeom prst="rect">
            <a:avLst/>
          </a:prstGeom>
          <a:gradFill rotWithShape="1">
            <a:gsLst>
              <a:gs pos="0">
                <a:srgbClr val="59C6CC"/>
              </a:gs>
              <a:gs pos="45000">
                <a:srgbClr val="00A8B0"/>
              </a:gs>
              <a:gs pos="100000">
                <a:srgbClr val="00767B"/>
              </a:gs>
            </a:gsLst>
            <a:lin ang="0" scaled="0"/>
          </a:gradFill>
          <a:ln>
            <a:noFill/>
          </a:ln>
          <a:effectLst>
            <a:glow rad="88900">
              <a:srgbClr val="00A8B0">
                <a:alpha val="35000"/>
              </a:srgbClr>
            </a:glow>
            <a:outerShdw blurRad="228600" dist="101600" dir="5400000" algn="t" rotWithShape="0">
              <a:srgbClr val="000000">
                <a:alpha val="70000"/>
              </a:srgbClr>
            </a:outerShdw>
          </a:effectLst>
        </p:spPr>
      </p:sp>
      <p:sp>
        <p:nvSpPr>
          <p:cNvPr id="127" name="Bar highlight"/>
          <p:cNvSpPr/>
          <p:nvPr/>
        </p:nvSpPr>
        <p:spPr>
          <a:xfrm>
            <a:off x="9614132" y="5025934"/>
            <a:ext cx="738313" cy="27432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</p:sp>
      <p:sp>
        <p:nvSpPr>
          <p:cNvPr id="128" name="Bar value"/>
          <p:cNvSpPr txBox="1"/>
          <p:nvPr/>
        </p:nvSpPr>
        <p:spPr>
          <a:xfrm>
            <a:off x="9431252" y="4733326"/>
            <a:ext cx="110407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000" b="1" dirty="0">
                <a:solidFill>
                  <a:srgbClr val="FFFFFF"/>
                </a:solidFill>
                <a:latin typeface="+mn-lt"/>
              </a:rPr>
              <a:t>2.5%</a:t>
            </a:r>
          </a:p>
        </p:txBody>
      </p:sp>
      <p:sp>
        <p:nvSpPr>
          <p:cNvPr id="129" name="Age group"/>
          <p:cNvSpPr txBox="1"/>
          <p:nvPr/>
        </p:nvSpPr>
        <p:spPr>
          <a:xfrm>
            <a:off x="9431252" y="5394960"/>
            <a:ext cx="110407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200" b="1" dirty="0">
                <a:solidFill>
                  <a:srgbClr val="D1D5DB"/>
                </a:solidFill>
                <a:latin typeface="+mn-lt"/>
              </a:rPr>
              <a:t>55–64</a:t>
            </a:r>
          </a:p>
        </p:txBody>
      </p:sp>
      <p:sp>
        <p:nvSpPr>
          <p:cNvPr id="130" name="Bar 65+"/>
          <p:cNvSpPr/>
          <p:nvPr/>
        </p:nvSpPr>
        <p:spPr>
          <a:xfrm>
            <a:off x="10639567" y="5192486"/>
            <a:ext cx="738313" cy="111034"/>
          </a:xfrm>
          <a:prstGeom prst="rect">
            <a:avLst/>
          </a:prstGeom>
          <a:gradFill rotWithShape="1">
            <a:gsLst>
              <a:gs pos="0">
                <a:srgbClr val="59C6CC"/>
              </a:gs>
              <a:gs pos="45000">
                <a:srgbClr val="00A8B0"/>
              </a:gs>
              <a:gs pos="100000">
                <a:srgbClr val="00767B"/>
              </a:gs>
            </a:gsLst>
            <a:lin ang="0" scaled="0"/>
          </a:gradFill>
          <a:ln>
            <a:noFill/>
          </a:ln>
          <a:effectLst>
            <a:glow rad="88900">
              <a:srgbClr val="00A8B0">
                <a:alpha val="35000"/>
              </a:srgbClr>
            </a:glow>
            <a:outerShdw blurRad="228600" dist="101600" dir="5400000" algn="t" rotWithShape="0">
              <a:srgbClr val="000000">
                <a:alpha val="70000"/>
              </a:srgbClr>
            </a:outerShdw>
          </a:effectLst>
        </p:spPr>
      </p:sp>
      <p:sp>
        <p:nvSpPr>
          <p:cNvPr id="131" name="Bar highlight"/>
          <p:cNvSpPr/>
          <p:nvPr/>
        </p:nvSpPr>
        <p:spPr>
          <a:xfrm>
            <a:off x="10639567" y="5192486"/>
            <a:ext cx="738313" cy="27432"/>
          </a:xfrm>
          <a:prstGeom prst="rect">
            <a:avLst/>
          </a:prstGeom>
          <a:solidFill>
            <a:srgbClr val="FFFFFF">
              <a:alpha val="65000"/>
            </a:srgbClr>
          </a:solidFill>
          <a:ln>
            <a:noFill/>
          </a:ln>
        </p:spPr>
      </p:sp>
      <p:sp>
        <p:nvSpPr>
          <p:cNvPr id="132" name="Bar value"/>
          <p:cNvSpPr txBox="1"/>
          <p:nvPr/>
        </p:nvSpPr>
        <p:spPr>
          <a:xfrm>
            <a:off x="10456687" y="4899878"/>
            <a:ext cx="1104073" cy="237744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000" b="1" dirty="0">
                <a:solidFill>
                  <a:srgbClr val="FFFFFF"/>
                </a:solidFill>
                <a:latin typeface="+mn-lt"/>
              </a:rPr>
              <a:t>1%</a:t>
            </a:r>
          </a:p>
        </p:txBody>
      </p:sp>
      <p:sp>
        <p:nvSpPr>
          <p:cNvPr id="133" name="Age group"/>
          <p:cNvSpPr txBox="1"/>
          <p:nvPr/>
        </p:nvSpPr>
        <p:spPr>
          <a:xfrm>
            <a:off x="10456687" y="5394960"/>
            <a:ext cx="1104073" cy="256032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ctr">
              <a:buNone/>
            </a:pPr>
            <a:r>
              <a:rPr lang="en-GB" sz="1200" b="1" dirty="0">
                <a:solidFill>
                  <a:srgbClr val="D1D5DB"/>
                </a:solidFill>
                <a:latin typeface="+mn-lt"/>
              </a:rPr>
              <a:t>65+</a:t>
            </a:r>
          </a:p>
        </p:txBody>
      </p:sp>
      <p:sp>
        <p:nvSpPr>
          <p:cNvPr id="145" name="Slide number 14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0" name="body 160"/>
          <p:cNvSpPr>
            <a:spLocks noGrp="1"/>
          </p:cNvSpPr>
          <p:nvPr>
            <p:ph type="body" idx="10"/>
          </p:nvPr>
        </p:nvSpPr>
        <p:spPr>
          <a:xfrm>
            <a:off x="548640" y="685800"/>
            <a:ext cx="8229600" cy="27432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How it works</a:t>
            </a:r>
          </a:p>
        </p:txBody>
      </p:sp>
      <p:sp>
        <p:nvSpPr>
          <p:cNvPr id="161" name="title 161"/>
          <p:cNvSpPr>
            <a:spLocks noGrp="1"/>
          </p:cNvSpPr>
          <p:nvPr>
            <p:ph type="title"/>
          </p:nvPr>
        </p:nvSpPr>
        <p:spPr>
          <a:xfrm>
            <a:off x="548640" y="1005840"/>
            <a:ext cx="10972800" cy="82296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From game to lead</a:t>
            </a:r>
          </a:p>
        </p:txBody>
      </p:sp>
      <p:sp>
        <p:nvSpPr>
          <p:cNvPr id="146" name="Step card"/>
          <p:cNvSpPr/>
          <p:nvPr/>
        </p:nvSpPr>
        <p:spPr>
          <a:xfrm>
            <a:off x="548640" y="2148840"/>
            <a:ext cx="3515258" cy="3566160"/>
          </a:xfrm>
          <a:prstGeom prst="roundRect">
            <a:avLst>
              <a:gd name="adj" fmla="val 5723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</p:sp>
      <p:sp>
        <p:nvSpPr>
          <p:cNvPr id="147" name="Step number"/>
          <p:cNvSpPr txBox="1"/>
          <p:nvPr/>
        </p:nvSpPr>
        <p:spPr>
          <a:xfrm>
            <a:off x="914400" y="24688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4400" b="1" dirty="0">
                <a:solidFill>
                  <a:srgbClr val="3DC0C8"/>
                </a:solidFill>
                <a:latin typeface="+mj-lt"/>
              </a:rPr>
              <a:t>01</a:t>
            </a:r>
          </a:p>
        </p:txBody>
      </p:sp>
      <p:sp>
        <p:nvSpPr>
          <p:cNvPr id="148" name="Step title"/>
          <p:cNvSpPr txBox="1"/>
          <p:nvPr/>
        </p:nvSpPr>
        <p:spPr>
          <a:xfrm>
            <a:off x="914400" y="3429000"/>
            <a:ext cx="278373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GB" sz="1800" b="1" cap="all" dirty="0">
                <a:solidFill>
                  <a:srgbClr val="FFFFFF"/>
                </a:solidFill>
                <a:latin typeface="+mj-lt"/>
              </a:rPr>
              <a:t>See the programmatic ad</a:t>
            </a:r>
          </a:p>
        </p:txBody>
      </p:sp>
      <p:sp>
        <p:nvSpPr>
          <p:cNvPr id="149" name="Step text"/>
          <p:cNvSpPr txBox="1"/>
          <p:nvPr/>
        </p:nvSpPr>
        <p:spPr>
          <a:xfrm>
            <a:off x="914400" y="4389120"/>
            <a:ext cx="2783738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GB" sz="1400" b="0" dirty="0">
                <a:solidFill>
                  <a:srgbClr val="D1D5DB"/>
                </a:solidFill>
                <a:latin typeface="+mn-lt"/>
              </a:rPr>
              <a:t>Programmatic advertising can distribute vouchers with a link to the lead site.</a:t>
            </a:r>
          </a:p>
        </p:txBody>
      </p:sp>
      <p:cxnSp>
        <p:nvCxnSpPr>
          <p:cNvPr id="150" name="Arrow"/>
          <p:cNvCxnSpPr/>
          <p:nvPr/>
        </p:nvCxnSpPr>
        <p:spPr>
          <a:xfrm>
            <a:off x="4100474" y="3931920"/>
            <a:ext cx="201168" cy="0"/>
          </a:xfrm>
          <a:prstGeom prst="line">
            <a:avLst/>
          </a:prstGeom>
          <a:ln w="19050">
            <a:solidFill>
              <a:srgbClr val="3DC0C8"/>
            </a:solidFill>
          </a:ln>
        </p:spPr>
      </p:cxnSp>
      <p:sp>
        <p:nvSpPr>
          <p:cNvPr id="151" name="Step card"/>
          <p:cNvSpPr/>
          <p:nvPr/>
        </p:nvSpPr>
        <p:spPr>
          <a:xfrm>
            <a:off x="4338218" y="2148840"/>
            <a:ext cx="3515258" cy="3566160"/>
          </a:xfrm>
          <a:prstGeom prst="roundRect">
            <a:avLst>
              <a:gd name="adj" fmla="val 5723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</p:sp>
      <p:sp>
        <p:nvSpPr>
          <p:cNvPr id="152" name="Step number"/>
          <p:cNvSpPr txBox="1"/>
          <p:nvPr/>
        </p:nvSpPr>
        <p:spPr>
          <a:xfrm>
            <a:off x="4703978" y="24688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4400" b="1" dirty="0">
                <a:solidFill>
                  <a:srgbClr val="F869B9"/>
                </a:solidFill>
                <a:latin typeface="+mj-lt"/>
              </a:rPr>
              <a:t>02</a:t>
            </a:r>
          </a:p>
        </p:txBody>
      </p:sp>
      <p:sp>
        <p:nvSpPr>
          <p:cNvPr id="153" name="Step title"/>
          <p:cNvSpPr txBox="1"/>
          <p:nvPr/>
        </p:nvSpPr>
        <p:spPr>
          <a:xfrm>
            <a:off x="4703978" y="3429000"/>
            <a:ext cx="278373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GB" sz="1800" b="1" cap="all" dirty="0">
                <a:solidFill>
                  <a:srgbClr val="FFFFFF"/>
                </a:solidFill>
                <a:latin typeface="+mj-lt"/>
              </a:rPr>
              <a:t>The vouchers</a:t>
            </a:r>
          </a:p>
        </p:txBody>
      </p:sp>
      <p:sp>
        <p:nvSpPr>
          <p:cNvPr id="154" name="Step text"/>
          <p:cNvSpPr txBox="1"/>
          <p:nvPr/>
        </p:nvSpPr>
        <p:spPr>
          <a:xfrm>
            <a:off x="4703978" y="4389120"/>
            <a:ext cx="2783738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GB" sz="1400" b="0" dirty="0">
                <a:solidFill>
                  <a:srgbClr val="D1D5DB"/>
                </a:solidFill>
                <a:latin typeface="+mn-lt"/>
              </a:rPr>
              <a:t>The guest gets a voucher in the CineGame app – from a physical prize to a link.</a:t>
            </a:r>
          </a:p>
        </p:txBody>
      </p:sp>
      <p:cxnSp>
        <p:nvCxnSpPr>
          <p:cNvPr id="155" name="Arrow"/>
          <p:cNvCxnSpPr/>
          <p:nvPr/>
        </p:nvCxnSpPr>
        <p:spPr>
          <a:xfrm>
            <a:off x="7890053" y="3931920"/>
            <a:ext cx="201168" cy="0"/>
          </a:xfrm>
          <a:prstGeom prst="line">
            <a:avLst/>
          </a:prstGeom>
          <a:ln w="19050">
            <a:solidFill>
              <a:srgbClr val="F869B9"/>
            </a:solidFill>
          </a:ln>
        </p:spPr>
      </p:cxnSp>
      <p:sp>
        <p:nvSpPr>
          <p:cNvPr id="156" name="Step card"/>
          <p:cNvSpPr/>
          <p:nvPr/>
        </p:nvSpPr>
        <p:spPr>
          <a:xfrm>
            <a:off x="8127797" y="2148840"/>
            <a:ext cx="3515258" cy="3566160"/>
          </a:xfrm>
          <a:prstGeom prst="roundRect">
            <a:avLst>
              <a:gd name="adj" fmla="val 5723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p:spPr>
      </p:sp>
      <p:sp>
        <p:nvSpPr>
          <p:cNvPr id="157" name="Step number"/>
          <p:cNvSpPr txBox="1"/>
          <p:nvPr/>
        </p:nvSpPr>
        <p:spPr>
          <a:xfrm>
            <a:off x="8493557" y="2468880"/>
            <a:ext cx="182880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4400" b="1" dirty="0">
                <a:solidFill>
                  <a:srgbClr val="FEA917"/>
                </a:solidFill>
                <a:latin typeface="+mj-lt"/>
              </a:rPr>
              <a:t>03</a:t>
            </a:r>
          </a:p>
        </p:txBody>
      </p:sp>
      <p:sp>
        <p:nvSpPr>
          <p:cNvPr id="158" name="Step title"/>
          <p:cNvSpPr txBox="1"/>
          <p:nvPr/>
        </p:nvSpPr>
        <p:spPr>
          <a:xfrm>
            <a:off x="8493557" y="3429000"/>
            <a:ext cx="2783738" cy="7315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95000"/>
              </a:lnSpc>
              <a:buNone/>
            </a:pPr>
            <a:r>
              <a:rPr lang="en-GB" sz="1800" b="1" cap="all" dirty="0">
                <a:solidFill>
                  <a:srgbClr val="FFFFFF"/>
                </a:solidFill>
                <a:latin typeface="+mj-lt"/>
              </a:rPr>
              <a:t>Spin to win</a:t>
            </a:r>
          </a:p>
        </p:txBody>
      </p:sp>
      <p:sp>
        <p:nvSpPr>
          <p:cNvPr id="159" name="Step text"/>
          <p:cNvSpPr txBox="1"/>
          <p:nvPr/>
        </p:nvSpPr>
        <p:spPr>
          <a:xfrm>
            <a:off x="8493557" y="4389120"/>
            <a:ext cx="2783738" cy="12801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5000"/>
              </a:lnSpc>
              <a:buNone/>
            </a:pPr>
            <a:r>
              <a:rPr lang="en-GB" sz="1400" b="0" dirty="0">
                <a:solidFill>
                  <a:srgbClr val="D1D5DB"/>
                </a:solidFill>
                <a:latin typeface="+mn-lt"/>
              </a:rPr>
              <a:t>On the lead site the guest spins the wheel and signs up for the advertiser’s news.</a:t>
            </a:r>
          </a:p>
        </p:txBody>
      </p:sp>
      <p:sp>
        <p:nvSpPr>
          <p:cNvPr id="162" name="Slide number 162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3" name="body 163"/>
          <p:cNvSpPr>
            <a:spLocks noGrp="1"/>
          </p:cNvSpPr>
          <p:nvPr>
            <p:ph type="body" idx="10"/>
          </p:nvPr>
        </p:nvSpPr>
        <p:spPr>
          <a:xfrm>
            <a:off x="548640" y="685800"/>
            <a:ext cx="3017520" cy="27432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Case</a:t>
            </a:r>
          </a:p>
        </p:txBody>
      </p:sp>
      <p:sp>
        <p:nvSpPr>
          <p:cNvPr id="164" name="title 164"/>
          <p:cNvSpPr>
            <a:spLocks noGrp="1"/>
          </p:cNvSpPr>
          <p:nvPr>
            <p:ph type="title"/>
          </p:nvPr>
        </p:nvSpPr>
        <p:spPr>
          <a:xfrm>
            <a:off x="548640" y="1005840"/>
            <a:ext cx="5212080" cy="137160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It is meatball Friday</a:t>
            </a:r>
          </a:p>
        </p:txBody>
      </p:sp>
      <p:sp>
        <p:nvSpPr>
          <p:cNvPr id="165" name="body 165"/>
          <p:cNvSpPr>
            <a:spLocks noGrp="1"/>
          </p:cNvSpPr>
          <p:nvPr>
            <p:ph type="body" idx="1"/>
          </p:nvPr>
        </p:nvSpPr>
        <p:spPr>
          <a:xfrm>
            <a:off x="548640" y="2514600"/>
            <a:ext cx="5212080" cy="237744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Meatball Friday comes to the big screen. Every Friday, with IKEA.</a:t>
            </a:r>
          </a:p>
          <a:p>
            <a:r>
              <a:rPr lang="en-GB" dirty="0"/>
              <a:t>Use this layout for a case: click the icon on the right to add a picture or video still.</a:t>
            </a:r>
          </a:p>
        </p:txBody>
      </p:sp>
      <p:sp>
        <p:nvSpPr>
          <p:cNvPr id="166" name="Category tag"/>
          <p:cNvSpPr/>
          <p:nvPr/>
        </p:nvSpPr>
        <p:spPr>
          <a:xfrm>
            <a:off x="548640" y="5074920"/>
            <a:ext cx="1188720" cy="310896"/>
          </a:xfrm>
          <a:prstGeom prst="roundRect">
            <a:avLst>
              <a:gd name="adj" fmla="val 50000"/>
            </a:avLst>
          </a:prstGeom>
          <a:solidFill>
            <a:srgbClr val="F869B9"/>
          </a:solidFill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ctr">
              <a:buNone/>
            </a:pPr>
            <a:r>
              <a:rPr lang="en-GB" sz="900" b="1" spc="150" dirty="0">
                <a:solidFill>
                  <a:srgbClr val="0A0A0C"/>
                </a:solidFill>
                <a:latin typeface="+mn-lt"/>
              </a:rPr>
              <a:t>CINEGAME</a:t>
            </a:r>
          </a:p>
        </p:txBody>
      </p:sp>
      <p:sp>
        <p:nvSpPr>
          <p:cNvPr id="167" name="Picture"/>
          <p:cNvSpPr>
            <a:spLocks noGrp="1"/>
          </p:cNvSpPr>
          <p:nvPr>
            <p:ph type="pic" idx="13"/>
          </p:nvPr>
        </p:nvSpPr>
        <p:spPr>
          <a:xfrm>
            <a:off x="6309360" y="685800"/>
            <a:ext cx="5333695" cy="5120640"/>
          </a:xfrm>
          <a:prstGeom prst="roundRect">
            <a:avLst>
              <a:gd name="adj" fmla="val 3929"/>
            </a:avLst>
          </a:prstGeom>
        </p:spPr>
      </p:sp>
      <p:sp>
        <p:nvSpPr>
          <p:cNvPr id="168" name="Slide number 168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3" name="body 233"/>
          <p:cNvSpPr>
            <a:spLocks noGrp="1"/>
          </p:cNvSpPr>
          <p:nvPr>
            <p:ph type="body" idx="10"/>
          </p:nvPr>
        </p:nvSpPr>
        <p:spPr>
          <a:xfrm>
            <a:off x="548640" y="685800"/>
            <a:ext cx="8229600" cy="27432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Design guide</a:t>
            </a:r>
          </a:p>
        </p:txBody>
      </p:sp>
      <p:sp>
        <p:nvSpPr>
          <p:cNvPr id="234" name="title 234"/>
          <p:cNvSpPr>
            <a:spLocks noGrp="1"/>
          </p:cNvSpPr>
          <p:nvPr>
            <p:ph type="title"/>
          </p:nvPr>
        </p:nvSpPr>
        <p:spPr>
          <a:xfrm>
            <a:off x="548640" y="1005840"/>
            <a:ext cx="10972800" cy="82296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Fonts, colours and sizes</a:t>
            </a:r>
          </a:p>
        </p:txBody>
      </p:sp>
      <p:sp>
        <p:nvSpPr>
          <p:cNvPr id="169" name="Fonts heading"/>
          <p:cNvSpPr txBox="1"/>
          <p:nvPr/>
        </p:nvSpPr>
        <p:spPr>
          <a:xfrm>
            <a:off x="548640" y="1783080"/>
            <a:ext cx="347472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100" b="1" cap="all" spc="300" dirty="0">
                <a:solidFill>
                  <a:srgbClr val="FECE00"/>
                </a:solidFill>
                <a:latin typeface="+mn-lt"/>
              </a:rPr>
              <a:t>Fonts</a:t>
            </a:r>
          </a:p>
        </p:txBody>
      </p:sp>
      <p:sp>
        <p:nvSpPr>
          <p:cNvPr id="170" name="Font sample heading"/>
          <p:cNvSpPr txBox="1"/>
          <p:nvPr/>
        </p:nvSpPr>
        <p:spPr>
          <a:xfrm>
            <a:off x="548640" y="2148840"/>
            <a:ext cx="3474720" cy="5029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2800" b="1" dirty="0">
                <a:solidFill>
                  <a:srgbClr val="FFFFFF"/>
                </a:solidFill>
                <a:latin typeface="+mj-lt"/>
              </a:rPr>
              <a:t>AA HEADING</a:t>
            </a:r>
          </a:p>
        </p:txBody>
      </p:sp>
      <p:sp>
        <p:nvSpPr>
          <p:cNvPr id="171" name="Font heading info"/>
          <p:cNvSpPr txBox="1"/>
          <p:nvPr/>
        </p:nvSpPr>
        <p:spPr>
          <a:xfrm>
            <a:off x="548640" y="269748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GB" sz="1100" b="0" dirty="0">
                <a:solidFill>
                  <a:srgbClr val="D1D5DB"/>
                </a:solidFill>
                <a:latin typeface="+mn-lt"/>
              </a:rPr>
              <a:t>Arial Black, UPPERCASE, tight line spacing (88–90%). Titles, numbers and card headings.</a:t>
            </a:r>
          </a:p>
        </p:txBody>
      </p:sp>
      <p:sp>
        <p:nvSpPr>
          <p:cNvPr id="172" name="Font sample body"/>
          <p:cNvSpPr txBox="1"/>
          <p:nvPr/>
        </p:nvSpPr>
        <p:spPr>
          <a:xfrm>
            <a:off x="548640" y="3474720"/>
            <a:ext cx="34747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2000" b="0" dirty="0">
                <a:solidFill>
                  <a:srgbClr val="FFFFFF"/>
                </a:solidFill>
                <a:latin typeface="+mn-lt"/>
              </a:rPr>
              <a:t>Aa Body text</a:t>
            </a:r>
          </a:p>
        </p:txBody>
      </p:sp>
      <p:sp>
        <p:nvSpPr>
          <p:cNvPr id="173" name="Font body info"/>
          <p:cNvSpPr txBox="1"/>
          <p:nvPr/>
        </p:nvSpPr>
        <p:spPr>
          <a:xfrm>
            <a:off x="548640" y="38862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GB" sz="1100" b="0" dirty="0">
                <a:solidFill>
                  <a:srgbClr val="D1D5DB"/>
                </a:solidFill>
                <a:latin typeface="+mn-lt"/>
              </a:rPr>
              <a:t>Arial Regular / Bold. Body text, labels and buttons; labels in bold caps with wide letter spacing.</a:t>
            </a:r>
          </a:p>
        </p:txBody>
      </p:sp>
      <p:pic>
        <p:nvPicPr>
          <p:cNvPr id="174" name="Wordmark sample" descr="Wordmark sample"/>
          <p:cNvPicPr>
            <a:picLocks noChangeAspect="1"/>
          </p:cNvPicPr>
          <p:nvPr/>
        </p:nvPicPr>
        <p:blipFill>
          <a:blip r:embed="rIdWord"/>
          <a:stretch>
            <a:fillRect/>
          </a:stretch>
        </p:blipFill>
        <p:spPr>
          <a:xfrm>
            <a:off x="548640" y="4754880"/>
            <a:ext cx="1847331" cy="189281"/>
          </a:xfrm>
          <a:prstGeom prst="rect">
            <a:avLst/>
          </a:prstGeom>
        </p:spPr>
      </p:pic>
      <p:sp>
        <p:nvSpPr>
          <p:cNvPr id="175" name="Font logo info"/>
          <p:cNvSpPr txBox="1"/>
          <p:nvPr/>
        </p:nvSpPr>
        <p:spPr>
          <a:xfrm>
            <a:off x="548640" y="5029200"/>
            <a:ext cx="3474720" cy="68580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GB" sz="1100" b="0" dirty="0">
                <a:solidFill>
                  <a:srgbClr val="D1D5DB"/>
                </a:solidFill>
                <a:latin typeface="+mn-lt"/>
              </a:rPr>
              <a:t>The logo is set in Klavika Bold – use the logo image, never retype it. The website uses General Sans for text.</a:t>
            </a:r>
          </a:p>
        </p:txBody>
      </p:sp>
      <p:sp>
        <p:nvSpPr>
          <p:cNvPr id="176" name="Colours heading"/>
          <p:cNvSpPr txBox="1"/>
          <p:nvPr/>
        </p:nvSpPr>
        <p:spPr>
          <a:xfrm>
            <a:off x="4343400" y="1783080"/>
            <a:ext cx="356616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100" b="1" cap="all" spc="300" dirty="0">
                <a:solidFill>
                  <a:srgbClr val="FECE00"/>
                </a:solidFill>
                <a:latin typeface="+mn-lt"/>
              </a:rPr>
              <a:t>Colours</a:t>
            </a:r>
          </a:p>
        </p:txBody>
      </p:sp>
      <p:sp>
        <p:nvSpPr>
          <p:cNvPr id="177" name="Swatch Dark"/>
          <p:cNvSpPr/>
          <p:nvPr/>
        </p:nvSpPr>
        <p:spPr>
          <a:xfrm>
            <a:off x="4343400" y="214884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0A0A0C"/>
          </a:solidFill>
          <a:ln w="12700">
            <a:solidFill>
              <a:srgbClr val="1F1F26"/>
            </a:solidFill>
          </a:ln>
        </p:spPr>
      </p:sp>
      <p:sp>
        <p:nvSpPr>
          <p:cNvPr id="178" name="Swatch Dark name"/>
          <p:cNvSpPr txBox="1"/>
          <p:nvPr/>
        </p:nvSpPr>
        <p:spPr>
          <a:xfrm>
            <a:off x="4800600" y="2130552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100" b="1" spc="100" dirty="0">
                <a:solidFill>
                  <a:srgbClr val="FFFFFF"/>
                </a:solidFill>
                <a:latin typeface="+mn-lt"/>
              </a:rPr>
              <a:t>DARK</a:t>
            </a:r>
            <a:r>
              <a:rPr lang="en-GB" sz="1000" b="0" dirty="0">
                <a:solidFill>
                  <a:srgbClr val="9CA3AF"/>
                </a:solidFill>
                <a:latin typeface="+mn-lt"/>
              </a:rPr>
              <a:t>  #0A0A0C</a:t>
            </a:r>
          </a:p>
        </p:txBody>
      </p:sp>
      <p:sp>
        <p:nvSpPr>
          <p:cNvPr id="179" name="Swatch Dark use"/>
          <p:cNvSpPr txBox="1"/>
          <p:nvPr/>
        </p:nvSpPr>
        <p:spPr>
          <a:xfrm>
            <a:off x="6263640" y="213055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Backgrounds</a:t>
            </a:r>
          </a:p>
        </p:txBody>
      </p:sp>
      <p:sp>
        <p:nvSpPr>
          <p:cNvPr id="180" name="Swatch Card"/>
          <p:cNvSpPr/>
          <p:nvPr/>
        </p:nvSpPr>
        <p:spPr>
          <a:xfrm>
            <a:off x="4343400" y="257860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21216"/>
          </a:solidFill>
          <a:ln w="12700">
            <a:solidFill>
              <a:srgbClr val="1F1F26"/>
            </a:solidFill>
          </a:ln>
        </p:spPr>
      </p:sp>
      <p:sp>
        <p:nvSpPr>
          <p:cNvPr id="181" name="Swatch Card name"/>
          <p:cNvSpPr txBox="1"/>
          <p:nvPr/>
        </p:nvSpPr>
        <p:spPr>
          <a:xfrm>
            <a:off x="4800600" y="256032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100" b="1" spc="100" dirty="0">
                <a:solidFill>
                  <a:srgbClr val="FFFFFF"/>
                </a:solidFill>
                <a:latin typeface="+mn-lt"/>
              </a:rPr>
              <a:t>CARD</a:t>
            </a:r>
            <a:r>
              <a:rPr lang="en-GB" sz="1000" b="0" dirty="0">
                <a:solidFill>
                  <a:srgbClr val="9CA3AF"/>
                </a:solidFill>
                <a:latin typeface="+mn-lt"/>
              </a:rPr>
              <a:t>  #121216</a:t>
            </a:r>
          </a:p>
        </p:txBody>
      </p:sp>
      <p:sp>
        <p:nvSpPr>
          <p:cNvPr id="182" name="Swatch Card use"/>
          <p:cNvSpPr txBox="1"/>
          <p:nvPr/>
        </p:nvSpPr>
        <p:spPr>
          <a:xfrm>
            <a:off x="6263640" y="256032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Cards, panels</a:t>
            </a:r>
          </a:p>
        </p:txBody>
      </p:sp>
      <p:sp>
        <p:nvSpPr>
          <p:cNvPr id="183" name="Swatch Border"/>
          <p:cNvSpPr/>
          <p:nvPr/>
        </p:nvSpPr>
        <p:spPr>
          <a:xfrm>
            <a:off x="4343400" y="300837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1F1F26"/>
          </a:solidFill>
          <a:ln w="12700">
            <a:solidFill>
              <a:srgbClr val="1F1F26"/>
            </a:solidFill>
          </a:ln>
        </p:spPr>
      </p:sp>
      <p:sp>
        <p:nvSpPr>
          <p:cNvPr id="184" name="Swatch Border name"/>
          <p:cNvSpPr txBox="1"/>
          <p:nvPr/>
        </p:nvSpPr>
        <p:spPr>
          <a:xfrm>
            <a:off x="4800600" y="299008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100" b="1" spc="100" dirty="0">
                <a:solidFill>
                  <a:srgbClr val="FFFFFF"/>
                </a:solidFill>
                <a:latin typeface="+mn-lt"/>
              </a:rPr>
              <a:t>BORDER</a:t>
            </a:r>
            <a:r>
              <a:rPr lang="en-GB" sz="1000" b="0" dirty="0">
                <a:solidFill>
                  <a:srgbClr val="9CA3AF"/>
                </a:solidFill>
                <a:latin typeface="+mn-lt"/>
              </a:rPr>
              <a:t>  #1F1F26</a:t>
            </a:r>
          </a:p>
        </p:txBody>
      </p:sp>
      <p:sp>
        <p:nvSpPr>
          <p:cNvPr id="185" name="Swatch Border use"/>
          <p:cNvSpPr txBox="1"/>
          <p:nvPr/>
        </p:nvSpPr>
        <p:spPr>
          <a:xfrm>
            <a:off x="6263640" y="299008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Card borders, lines</a:t>
            </a:r>
          </a:p>
        </p:txBody>
      </p:sp>
      <p:sp>
        <p:nvSpPr>
          <p:cNvPr id="186" name="Swatch Grey"/>
          <p:cNvSpPr/>
          <p:nvPr/>
        </p:nvSpPr>
        <p:spPr>
          <a:xfrm>
            <a:off x="4343400" y="343814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9CA3AF"/>
          </a:solidFill>
          <a:ln w="12700">
            <a:solidFill>
              <a:srgbClr val="1F1F26"/>
            </a:solidFill>
          </a:ln>
        </p:spPr>
      </p:sp>
      <p:sp>
        <p:nvSpPr>
          <p:cNvPr id="187" name="Swatch Grey name"/>
          <p:cNvSpPr txBox="1"/>
          <p:nvPr/>
        </p:nvSpPr>
        <p:spPr>
          <a:xfrm>
            <a:off x="4800600" y="341985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100" b="1" spc="100" dirty="0">
                <a:solidFill>
                  <a:srgbClr val="FFFFFF"/>
                </a:solidFill>
                <a:latin typeface="+mn-lt"/>
              </a:rPr>
              <a:t>GREY</a:t>
            </a:r>
            <a:r>
              <a:rPr lang="en-GB" sz="1000" b="0" dirty="0">
                <a:solidFill>
                  <a:srgbClr val="9CA3AF"/>
                </a:solidFill>
                <a:latin typeface="+mn-lt"/>
              </a:rPr>
              <a:t>  #9CA3AF</a:t>
            </a:r>
          </a:p>
        </p:txBody>
      </p:sp>
      <p:sp>
        <p:nvSpPr>
          <p:cNvPr id="188" name="Swatch Grey use"/>
          <p:cNvSpPr txBox="1"/>
          <p:nvPr/>
        </p:nvSpPr>
        <p:spPr>
          <a:xfrm>
            <a:off x="6263640" y="341985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Secondary text</a:t>
            </a:r>
          </a:p>
        </p:txBody>
      </p:sp>
      <p:sp>
        <p:nvSpPr>
          <p:cNvPr id="189" name="Swatch Blue"/>
          <p:cNvSpPr/>
          <p:nvPr/>
        </p:nvSpPr>
        <p:spPr>
          <a:xfrm>
            <a:off x="4343400" y="3867912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3DC0C8"/>
          </a:solidFill>
          <a:ln w="12700">
            <a:solidFill>
              <a:srgbClr val="1F1F26"/>
            </a:solidFill>
          </a:ln>
          <a:effectLst>
            <a:glow rad="50800">
              <a:srgbClr val="3DC0C8">
                <a:alpha val="30000"/>
              </a:srgbClr>
            </a:glow>
          </a:effectLst>
        </p:spPr>
      </p:sp>
      <p:sp>
        <p:nvSpPr>
          <p:cNvPr id="190" name="Swatch Blue name"/>
          <p:cNvSpPr txBox="1"/>
          <p:nvPr/>
        </p:nvSpPr>
        <p:spPr>
          <a:xfrm>
            <a:off x="4800600" y="3849624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100" b="1" spc="100" dirty="0">
                <a:solidFill>
                  <a:srgbClr val="FFFFFF"/>
                </a:solidFill>
                <a:latin typeface="+mn-lt"/>
              </a:rPr>
              <a:t>BLUE</a:t>
            </a:r>
            <a:r>
              <a:rPr lang="en-GB" sz="1000" b="0" dirty="0">
                <a:solidFill>
                  <a:srgbClr val="9CA3AF"/>
                </a:solidFill>
                <a:latin typeface="+mn-lt"/>
              </a:rPr>
              <a:t>  #3DC0C8</a:t>
            </a:r>
          </a:p>
        </p:txBody>
      </p:sp>
      <p:sp>
        <p:nvSpPr>
          <p:cNvPr id="191" name="Swatch Blue use"/>
          <p:cNvSpPr txBox="1"/>
          <p:nvPr/>
        </p:nvSpPr>
        <p:spPr>
          <a:xfrm>
            <a:off x="6263640" y="3849624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Programmatic</a:t>
            </a:r>
          </a:p>
        </p:txBody>
      </p:sp>
      <p:sp>
        <p:nvSpPr>
          <p:cNvPr id="192" name="Swatch Pink"/>
          <p:cNvSpPr/>
          <p:nvPr/>
        </p:nvSpPr>
        <p:spPr>
          <a:xfrm>
            <a:off x="4343400" y="4297680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869B9"/>
          </a:solidFill>
          <a:ln w="12700">
            <a:solidFill>
              <a:srgbClr val="1F1F26"/>
            </a:solidFill>
          </a:ln>
          <a:effectLst>
            <a:glow rad="50800">
              <a:srgbClr val="F869B9">
                <a:alpha val="30000"/>
              </a:srgbClr>
            </a:glow>
          </a:effectLst>
        </p:spPr>
      </p:sp>
      <p:sp>
        <p:nvSpPr>
          <p:cNvPr id="193" name="Swatch Pink name"/>
          <p:cNvSpPr txBox="1"/>
          <p:nvPr/>
        </p:nvSpPr>
        <p:spPr>
          <a:xfrm>
            <a:off x="4800600" y="4279392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100" b="1" spc="100" dirty="0">
                <a:solidFill>
                  <a:srgbClr val="FFFFFF"/>
                </a:solidFill>
                <a:latin typeface="+mn-lt"/>
              </a:rPr>
              <a:t>PINK</a:t>
            </a:r>
            <a:r>
              <a:rPr lang="en-GB" sz="1000" b="0" dirty="0">
                <a:solidFill>
                  <a:srgbClr val="9CA3AF"/>
                </a:solidFill>
                <a:latin typeface="+mn-lt"/>
              </a:rPr>
              <a:t>  #F869B9</a:t>
            </a:r>
          </a:p>
        </p:txBody>
      </p:sp>
      <p:sp>
        <p:nvSpPr>
          <p:cNvPr id="194" name="Swatch Pink use"/>
          <p:cNvSpPr txBox="1"/>
          <p:nvPr/>
        </p:nvSpPr>
        <p:spPr>
          <a:xfrm>
            <a:off x="6263640" y="4279392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CineGame</a:t>
            </a:r>
          </a:p>
        </p:txBody>
      </p:sp>
      <p:sp>
        <p:nvSpPr>
          <p:cNvPr id="195" name="Swatch Green"/>
          <p:cNvSpPr/>
          <p:nvPr/>
        </p:nvSpPr>
        <p:spPr>
          <a:xfrm>
            <a:off x="4343400" y="4727448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6CEEC4"/>
          </a:solidFill>
          <a:ln w="12700">
            <a:solidFill>
              <a:srgbClr val="1F1F26"/>
            </a:solidFill>
          </a:ln>
          <a:effectLst>
            <a:glow rad="50800">
              <a:srgbClr val="6CEEC4">
                <a:alpha val="30000"/>
              </a:srgbClr>
            </a:glow>
          </a:effectLst>
        </p:spPr>
      </p:sp>
      <p:sp>
        <p:nvSpPr>
          <p:cNvPr id="196" name="Swatch Green name"/>
          <p:cNvSpPr txBox="1"/>
          <p:nvPr/>
        </p:nvSpPr>
        <p:spPr>
          <a:xfrm>
            <a:off x="4800600" y="4709160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100" b="1" spc="100" dirty="0">
                <a:solidFill>
                  <a:srgbClr val="FFFFFF"/>
                </a:solidFill>
                <a:latin typeface="+mn-lt"/>
              </a:rPr>
              <a:t>GREEN</a:t>
            </a:r>
            <a:r>
              <a:rPr lang="en-GB" sz="1000" b="0" dirty="0">
                <a:solidFill>
                  <a:srgbClr val="9CA3AF"/>
                </a:solidFill>
                <a:latin typeface="+mn-lt"/>
              </a:rPr>
              <a:t>  #6CEEC4</a:t>
            </a:r>
          </a:p>
        </p:txBody>
      </p:sp>
      <p:sp>
        <p:nvSpPr>
          <p:cNvPr id="197" name="Swatch Green use"/>
          <p:cNvSpPr txBox="1"/>
          <p:nvPr/>
        </p:nvSpPr>
        <p:spPr>
          <a:xfrm>
            <a:off x="6263640" y="4709160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CineFun</a:t>
            </a:r>
          </a:p>
        </p:txBody>
      </p:sp>
      <p:sp>
        <p:nvSpPr>
          <p:cNvPr id="198" name="Swatch Orange"/>
          <p:cNvSpPr/>
          <p:nvPr/>
        </p:nvSpPr>
        <p:spPr>
          <a:xfrm>
            <a:off x="4343400" y="5157216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EA917"/>
          </a:solidFill>
          <a:ln w="12700">
            <a:solidFill>
              <a:srgbClr val="1F1F26"/>
            </a:solidFill>
          </a:ln>
          <a:effectLst>
            <a:glow rad="50800">
              <a:srgbClr val="FEA917">
                <a:alpha val="30000"/>
              </a:srgbClr>
            </a:glow>
          </a:effectLst>
        </p:spPr>
      </p:sp>
      <p:sp>
        <p:nvSpPr>
          <p:cNvPr id="199" name="Swatch Orange name"/>
          <p:cNvSpPr txBox="1"/>
          <p:nvPr/>
        </p:nvSpPr>
        <p:spPr>
          <a:xfrm>
            <a:off x="4800600" y="5138928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100" b="1" spc="100" dirty="0">
                <a:solidFill>
                  <a:srgbClr val="FFFFFF"/>
                </a:solidFill>
                <a:latin typeface="+mn-lt"/>
              </a:rPr>
              <a:t>ORANGE</a:t>
            </a:r>
            <a:r>
              <a:rPr lang="en-GB" sz="1000" b="0" dirty="0">
                <a:solidFill>
                  <a:srgbClr val="9CA3AF"/>
                </a:solidFill>
                <a:latin typeface="+mn-lt"/>
              </a:rPr>
              <a:t>  #FEA917</a:t>
            </a:r>
          </a:p>
        </p:txBody>
      </p:sp>
      <p:sp>
        <p:nvSpPr>
          <p:cNvPr id="200" name="Swatch Orange use"/>
          <p:cNvSpPr txBox="1"/>
          <p:nvPr/>
        </p:nvSpPr>
        <p:spPr>
          <a:xfrm>
            <a:off x="6263640" y="5138928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Leadsite, Technology</a:t>
            </a:r>
          </a:p>
        </p:txBody>
      </p:sp>
      <p:sp>
        <p:nvSpPr>
          <p:cNvPr id="201" name="Swatch Yellow"/>
          <p:cNvSpPr/>
          <p:nvPr/>
        </p:nvSpPr>
        <p:spPr>
          <a:xfrm>
            <a:off x="4343400" y="5586984"/>
            <a:ext cx="329184" cy="329184"/>
          </a:xfrm>
          <a:prstGeom prst="roundRect">
            <a:avLst>
              <a:gd name="adj" fmla="val 22222"/>
            </a:avLst>
          </a:prstGeom>
          <a:solidFill>
            <a:srgbClr val="FECE00"/>
          </a:solidFill>
          <a:ln w="12700">
            <a:solidFill>
              <a:srgbClr val="1F1F26"/>
            </a:solidFill>
          </a:ln>
          <a:effectLst>
            <a:glow rad="50800">
              <a:srgbClr val="FECE00">
                <a:alpha val="30000"/>
              </a:srgbClr>
            </a:glow>
          </a:effectLst>
        </p:spPr>
      </p:sp>
      <p:sp>
        <p:nvSpPr>
          <p:cNvPr id="202" name="Swatch Yellow name"/>
          <p:cNvSpPr txBox="1"/>
          <p:nvPr/>
        </p:nvSpPr>
        <p:spPr>
          <a:xfrm>
            <a:off x="4800600" y="5568696"/>
            <a:ext cx="141732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100" b="1" spc="100" dirty="0">
                <a:solidFill>
                  <a:srgbClr val="FFFFFF"/>
                </a:solidFill>
                <a:latin typeface="+mn-lt"/>
              </a:rPr>
              <a:t>YELLOW</a:t>
            </a:r>
            <a:r>
              <a:rPr lang="en-GB" sz="1000" b="0" dirty="0">
                <a:solidFill>
                  <a:srgbClr val="9CA3AF"/>
                </a:solidFill>
                <a:latin typeface="+mn-lt"/>
              </a:rPr>
              <a:t>  #FECE00</a:t>
            </a:r>
          </a:p>
        </p:txBody>
      </p:sp>
      <p:sp>
        <p:nvSpPr>
          <p:cNvPr id="203" name="Swatch Yellow use"/>
          <p:cNvSpPr txBox="1"/>
          <p:nvPr/>
        </p:nvSpPr>
        <p:spPr>
          <a:xfrm>
            <a:off x="6263640" y="5568696"/>
            <a:ext cx="1737360" cy="3657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Labels, highlights, Pitch</a:t>
            </a:r>
          </a:p>
        </p:txBody>
      </p:sp>
      <p:sp>
        <p:nvSpPr>
          <p:cNvPr id="204" name="Sizes heading"/>
          <p:cNvSpPr txBox="1"/>
          <p:nvPr/>
        </p:nvSpPr>
        <p:spPr>
          <a:xfrm>
            <a:off x="8229600" y="1783080"/>
            <a:ext cx="3383280" cy="27432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buNone/>
            </a:pPr>
            <a:r>
              <a:rPr lang="en-GB" sz="1100" b="1" cap="all" spc="300" dirty="0">
                <a:solidFill>
                  <a:srgbClr val="FECE00"/>
                </a:solidFill>
                <a:latin typeface="+mn-lt"/>
              </a:rPr>
              <a:t>Sizes</a:t>
            </a:r>
          </a:p>
        </p:txBody>
      </p:sp>
      <p:sp>
        <p:nvSpPr>
          <p:cNvPr id="205" name="Size Hero title"/>
          <p:cNvSpPr txBox="1"/>
          <p:nvPr/>
        </p:nvSpPr>
        <p:spPr>
          <a:xfrm>
            <a:off x="8229600" y="214884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200" b="0" dirty="0">
                <a:solidFill>
                  <a:srgbClr val="FFFFFF"/>
                </a:solidFill>
                <a:latin typeface="+mn-lt"/>
              </a:rPr>
              <a:t>Hero title</a:t>
            </a:r>
          </a:p>
        </p:txBody>
      </p:sp>
      <p:sp>
        <p:nvSpPr>
          <p:cNvPr id="206" name="Size Hero title value"/>
          <p:cNvSpPr txBox="1"/>
          <p:nvPr/>
        </p:nvSpPr>
        <p:spPr>
          <a:xfrm>
            <a:off x="10332720" y="214884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GB" sz="1200" b="1" dirty="0">
                <a:solidFill>
                  <a:srgbClr val="FFFFFF"/>
                </a:solidFill>
                <a:latin typeface="+mn-lt"/>
              </a:rPr>
              <a:t>60 pt</a:t>
            </a:r>
          </a:p>
        </p:txBody>
      </p:sp>
      <p:cxnSp>
        <p:nvCxnSpPr>
          <p:cNvPr id="207" name="Size rule"/>
          <p:cNvCxnSpPr/>
          <p:nvPr/>
        </p:nvCxnSpPr>
        <p:spPr>
          <a:xfrm>
            <a:off x="8229600" y="2459736"/>
            <a:ext cx="3383280" cy="0"/>
          </a:xfrm>
          <a:prstGeom prst="line">
            <a:avLst/>
          </a:prstGeom>
          <a:ln w="9525">
            <a:solidFill>
              <a:srgbClr val="1F1F26"/>
            </a:solidFill>
          </a:ln>
        </p:spPr>
      </p:cxnSp>
      <p:sp>
        <p:nvSpPr>
          <p:cNvPr id="208" name="Size Section title"/>
          <p:cNvSpPr txBox="1"/>
          <p:nvPr/>
        </p:nvSpPr>
        <p:spPr>
          <a:xfrm>
            <a:off x="8229600" y="247802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200" b="0" dirty="0">
                <a:solidFill>
                  <a:srgbClr val="FFFFFF"/>
                </a:solidFill>
                <a:latin typeface="+mn-lt"/>
              </a:rPr>
              <a:t>Section title</a:t>
            </a:r>
          </a:p>
        </p:txBody>
      </p:sp>
      <p:sp>
        <p:nvSpPr>
          <p:cNvPr id="209" name="Size Section title value"/>
          <p:cNvSpPr txBox="1"/>
          <p:nvPr/>
        </p:nvSpPr>
        <p:spPr>
          <a:xfrm>
            <a:off x="10332720" y="2478024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GB" sz="1200" b="1" dirty="0">
                <a:solidFill>
                  <a:srgbClr val="FFFFFF"/>
                </a:solidFill>
                <a:latin typeface="+mn-lt"/>
              </a:rPr>
              <a:t>54 pt</a:t>
            </a:r>
          </a:p>
        </p:txBody>
      </p:sp>
      <p:cxnSp>
        <p:nvCxnSpPr>
          <p:cNvPr id="210" name="Size rule"/>
          <p:cNvCxnSpPr/>
          <p:nvPr/>
        </p:nvCxnSpPr>
        <p:spPr>
          <a:xfrm>
            <a:off x="8229600" y="2788920"/>
            <a:ext cx="3383280" cy="0"/>
          </a:xfrm>
          <a:prstGeom prst="line">
            <a:avLst/>
          </a:prstGeom>
          <a:ln w="9525">
            <a:solidFill>
              <a:srgbClr val="1F1F26"/>
            </a:solidFill>
          </a:ln>
        </p:spPr>
      </p:cxnSp>
      <p:sp>
        <p:nvSpPr>
          <p:cNvPr id="211" name="Size Slide heading"/>
          <p:cNvSpPr txBox="1"/>
          <p:nvPr/>
        </p:nvSpPr>
        <p:spPr>
          <a:xfrm>
            <a:off x="8229600" y="2807208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200" b="0" dirty="0">
                <a:solidFill>
                  <a:srgbClr val="FFFFFF"/>
                </a:solidFill>
                <a:latin typeface="+mn-lt"/>
              </a:rPr>
              <a:t>Slide heading</a:t>
            </a:r>
          </a:p>
        </p:txBody>
      </p:sp>
      <p:sp>
        <p:nvSpPr>
          <p:cNvPr id="212" name="Size Slide heading value"/>
          <p:cNvSpPr txBox="1"/>
          <p:nvPr/>
        </p:nvSpPr>
        <p:spPr>
          <a:xfrm>
            <a:off x="10332720" y="280720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GB" sz="1200" b="1" dirty="0">
                <a:solidFill>
                  <a:srgbClr val="FFFFFF"/>
                </a:solidFill>
                <a:latin typeface="+mn-lt"/>
              </a:rPr>
              <a:t>30 pt</a:t>
            </a:r>
          </a:p>
        </p:txBody>
      </p:sp>
      <p:cxnSp>
        <p:nvCxnSpPr>
          <p:cNvPr id="213" name="Size rule"/>
          <p:cNvCxnSpPr/>
          <p:nvPr/>
        </p:nvCxnSpPr>
        <p:spPr>
          <a:xfrm>
            <a:off x="8229600" y="3118104"/>
            <a:ext cx="3383280" cy="0"/>
          </a:xfrm>
          <a:prstGeom prst="line">
            <a:avLst/>
          </a:prstGeom>
          <a:ln w="9525">
            <a:solidFill>
              <a:srgbClr val="1F1F26"/>
            </a:solidFill>
          </a:ln>
        </p:spPr>
      </p:cxnSp>
      <p:sp>
        <p:nvSpPr>
          <p:cNvPr id="214" name="Size Big numbers"/>
          <p:cNvSpPr txBox="1"/>
          <p:nvPr/>
        </p:nvSpPr>
        <p:spPr>
          <a:xfrm>
            <a:off x="8229600" y="313639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200" b="0" dirty="0">
                <a:solidFill>
                  <a:srgbClr val="FFFFFF"/>
                </a:solidFill>
                <a:latin typeface="+mn-lt"/>
              </a:rPr>
              <a:t>Big numbers</a:t>
            </a:r>
          </a:p>
        </p:txBody>
      </p:sp>
      <p:sp>
        <p:nvSpPr>
          <p:cNvPr id="215" name="Size Big numbers value"/>
          <p:cNvSpPr txBox="1"/>
          <p:nvPr/>
        </p:nvSpPr>
        <p:spPr>
          <a:xfrm>
            <a:off x="10332720" y="313639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GB" sz="1200" b="1" dirty="0">
                <a:solidFill>
                  <a:srgbClr val="FFFFFF"/>
                </a:solidFill>
                <a:latin typeface="+mn-lt"/>
              </a:rPr>
              <a:t>48 pt</a:t>
            </a:r>
          </a:p>
        </p:txBody>
      </p:sp>
      <p:cxnSp>
        <p:nvCxnSpPr>
          <p:cNvPr id="216" name="Size rule"/>
          <p:cNvCxnSpPr/>
          <p:nvPr/>
        </p:nvCxnSpPr>
        <p:spPr>
          <a:xfrm>
            <a:off x="8229600" y="3447288"/>
            <a:ext cx="3383280" cy="0"/>
          </a:xfrm>
          <a:prstGeom prst="line">
            <a:avLst/>
          </a:prstGeom>
          <a:ln w="9525">
            <a:solidFill>
              <a:srgbClr val="1F1F26"/>
            </a:solidFill>
          </a:ln>
        </p:spPr>
      </p:cxnSp>
      <p:sp>
        <p:nvSpPr>
          <p:cNvPr id="217" name="Size Card heading"/>
          <p:cNvSpPr txBox="1"/>
          <p:nvPr/>
        </p:nvSpPr>
        <p:spPr>
          <a:xfrm>
            <a:off x="8229600" y="3465576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200" b="0" dirty="0">
                <a:solidFill>
                  <a:srgbClr val="FFFFFF"/>
                </a:solidFill>
                <a:latin typeface="+mn-lt"/>
              </a:rPr>
              <a:t>Card heading</a:t>
            </a:r>
          </a:p>
        </p:txBody>
      </p:sp>
      <p:sp>
        <p:nvSpPr>
          <p:cNvPr id="218" name="Size Card heading value"/>
          <p:cNvSpPr txBox="1"/>
          <p:nvPr/>
        </p:nvSpPr>
        <p:spPr>
          <a:xfrm>
            <a:off x="10332720" y="3465576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GB" sz="1200" b="1" dirty="0">
                <a:solidFill>
                  <a:srgbClr val="FFFFFF"/>
                </a:solidFill>
                <a:latin typeface="+mn-lt"/>
              </a:rPr>
              <a:t>15–18 pt</a:t>
            </a:r>
          </a:p>
        </p:txBody>
      </p:sp>
      <p:cxnSp>
        <p:nvCxnSpPr>
          <p:cNvPr id="219" name="Size rule"/>
          <p:cNvCxnSpPr/>
          <p:nvPr/>
        </p:nvCxnSpPr>
        <p:spPr>
          <a:xfrm>
            <a:off x="8229600" y="3776472"/>
            <a:ext cx="3383280" cy="0"/>
          </a:xfrm>
          <a:prstGeom prst="line">
            <a:avLst/>
          </a:prstGeom>
          <a:ln w="9525">
            <a:solidFill>
              <a:srgbClr val="1F1F26"/>
            </a:solidFill>
          </a:ln>
        </p:spPr>
      </p:cxnSp>
      <p:sp>
        <p:nvSpPr>
          <p:cNvPr id="220" name="Size Body text"/>
          <p:cNvSpPr txBox="1"/>
          <p:nvPr/>
        </p:nvSpPr>
        <p:spPr>
          <a:xfrm>
            <a:off x="8229600" y="3794760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200" b="0" dirty="0">
                <a:solidFill>
                  <a:srgbClr val="FFFFFF"/>
                </a:solidFill>
                <a:latin typeface="+mn-lt"/>
              </a:rPr>
              <a:t>Body text</a:t>
            </a:r>
          </a:p>
        </p:txBody>
      </p:sp>
      <p:sp>
        <p:nvSpPr>
          <p:cNvPr id="221" name="Size Body text value"/>
          <p:cNvSpPr txBox="1"/>
          <p:nvPr/>
        </p:nvSpPr>
        <p:spPr>
          <a:xfrm>
            <a:off x="10332720" y="3794760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GB" sz="1200" b="1" dirty="0">
                <a:solidFill>
                  <a:srgbClr val="FFFFFF"/>
                </a:solidFill>
                <a:latin typeface="+mn-lt"/>
              </a:rPr>
              <a:t>14–16 pt</a:t>
            </a:r>
          </a:p>
        </p:txBody>
      </p:sp>
      <p:cxnSp>
        <p:nvCxnSpPr>
          <p:cNvPr id="222" name="Size rule"/>
          <p:cNvCxnSpPr/>
          <p:nvPr/>
        </p:nvCxnSpPr>
        <p:spPr>
          <a:xfrm>
            <a:off x="8229600" y="4105656"/>
            <a:ext cx="3383280" cy="0"/>
          </a:xfrm>
          <a:prstGeom prst="line">
            <a:avLst/>
          </a:prstGeom>
          <a:ln w="9525">
            <a:solidFill>
              <a:srgbClr val="1F1F26"/>
            </a:solidFill>
          </a:ln>
        </p:spPr>
      </p:cxnSp>
      <p:sp>
        <p:nvSpPr>
          <p:cNvPr id="223" name="Size Card text"/>
          <p:cNvSpPr txBox="1"/>
          <p:nvPr/>
        </p:nvSpPr>
        <p:spPr>
          <a:xfrm>
            <a:off x="8229600" y="4123944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200" b="0" dirty="0">
                <a:solidFill>
                  <a:srgbClr val="FFFFFF"/>
                </a:solidFill>
                <a:latin typeface="+mn-lt"/>
              </a:rPr>
              <a:t>Card text</a:t>
            </a:r>
          </a:p>
        </p:txBody>
      </p:sp>
      <p:sp>
        <p:nvSpPr>
          <p:cNvPr id="224" name="Size Card text value"/>
          <p:cNvSpPr txBox="1"/>
          <p:nvPr/>
        </p:nvSpPr>
        <p:spPr>
          <a:xfrm>
            <a:off x="10332720" y="4123944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GB" sz="1200" b="1" dirty="0">
                <a:solidFill>
                  <a:srgbClr val="FFFFFF"/>
                </a:solidFill>
                <a:latin typeface="+mn-lt"/>
              </a:rPr>
              <a:t>13 pt</a:t>
            </a:r>
          </a:p>
        </p:txBody>
      </p:sp>
      <p:cxnSp>
        <p:nvCxnSpPr>
          <p:cNvPr id="225" name="Size rule"/>
          <p:cNvCxnSpPr/>
          <p:nvPr/>
        </p:nvCxnSpPr>
        <p:spPr>
          <a:xfrm>
            <a:off x="8229600" y="4434840"/>
            <a:ext cx="3383280" cy="0"/>
          </a:xfrm>
          <a:prstGeom prst="line">
            <a:avLst/>
          </a:prstGeom>
          <a:ln w="9525">
            <a:solidFill>
              <a:srgbClr val="1F1F26"/>
            </a:solidFill>
          </a:ln>
        </p:spPr>
      </p:cxnSp>
      <p:sp>
        <p:nvSpPr>
          <p:cNvPr id="226" name="Size Label"/>
          <p:cNvSpPr txBox="1"/>
          <p:nvPr/>
        </p:nvSpPr>
        <p:spPr>
          <a:xfrm>
            <a:off x="8229600" y="4453128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200" b="0" dirty="0">
                <a:solidFill>
                  <a:srgbClr val="FFFFFF"/>
                </a:solidFill>
                <a:latin typeface="+mn-lt"/>
              </a:rPr>
              <a:t>Label</a:t>
            </a:r>
          </a:p>
        </p:txBody>
      </p:sp>
      <p:sp>
        <p:nvSpPr>
          <p:cNvPr id="227" name="Size Label value"/>
          <p:cNvSpPr txBox="1"/>
          <p:nvPr/>
        </p:nvSpPr>
        <p:spPr>
          <a:xfrm>
            <a:off x="10332720" y="4453128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GB" sz="1200" b="1" dirty="0">
                <a:solidFill>
                  <a:srgbClr val="FFFFFF"/>
                </a:solidFill>
                <a:latin typeface="+mn-lt"/>
              </a:rPr>
              <a:t>11 pt caps</a:t>
            </a:r>
          </a:p>
        </p:txBody>
      </p:sp>
      <p:cxnSp>
        <p:nvCxnSpPr>
          <p:cNvPr id="228" name="Size rule"/>
          <p:cNvCxnSpPr/>
          <p:nvPr/>
        </p:nvCxnSpPr>
        <p:spPr>
          <a:xfrm>
            <a:off x="8229600" y="4764024"/>
            <a:ext cx="3383280" cy="0"/>
          </a:xfrm>
          <a:prstGeom prst="line">
            <a:avLst/>
          </a:prstGeom>
          <a:ln w="9525">
            <a:solidFill>
              <a:srgbClr val="1F1F26"/>
            </a:solidFill>
          </a:ln>
        </p:spPr>
      </p:cxnSp>
      <p:sp>
        <p:nvSpPr>
          <p:cNvPr id="229" name="Size Footer, axis"/>
          <p:cNvSpPr txBox="1"/>
          <p:nvPr/>
        </p:nvSpPr>
        <p:spPr>
          <a:xfrm>
            <a:off x="8229600" y="4782312"/>
            <a:ext cx="210312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l">
              <a:buNone/>
            </a:pPr>
            <a:r>
              <a:rPr lang="en-GB" sz="1200" b="0" dirty="0">
                <a:solidFill>
                  <a:srgbClr val="FFFFFF"/>
                </a:solidFill>
                <a:latin typeface="+mn-lt"/>
              </a:rPr>
              <a:t>Footer, axis</a:t>
            </a:r>
          </a:p>
        </p:txBody>
      </p:sp>
      <p:sp>
        <p:nvSpPr>
          <p:cNvPr id="230" name="Size Footer, axis value"/>
          <p:cNvSpPr txBox="1"/>
          <p:nvPr/>
        </p:nvSpPr>
        <p:spPr>
          <a:xfrm>
            <a:off x="10332720" y="4782312"/>
            <a:ext cx="1280160" cy="292608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ctr" rtlCol="0">
            <a:noAutofit/>
          </a:bodyPr>
          <a:lstStyle/>
          <a:p>
            <a:pPr algn="r">
              <a:buNone/>
            </a:pPr>
            <a:r>
              <a:rPr lang="en-GB" sz="1200" b="1" dirty="0">
                <a:solidFill>
                  <a:srgbClr val="FFFFFF"/>
                </a:solidFill>
                <a:latin typeface="+mn-lt"/>
              </a:rPr>
              <a:t>9–10 pt</a:t>
            </a:r>
          </a:p>
        </p:txBody>
      </p:sp>
      <p:cxnSp>
        <p:nvCxnSpPr>
          <p:cNvPr id="231" name="Size rule"/>
          <p:cNvCxnSpPr/>
          <p:nvPr/>
        </p:nvCxnSpPr>
        <p:spPr>
          <a:xfrm>
            <a:off x="8229600" y="5093208"/>
            <a:ext cx="3383280" cy="0"/>
          </a:xfrm>
          <a:prstGeom prst="line">
            <a:avLst/>
          </a:prstGeom>
          <a:ln w="9525">
            <a:solidFill>
              <a:srgbClr val="1F1F26"/>
            </a:solidFill>
          </a:ln>
        </p:spPr>
      </p:cxnSp>
      <p:sp>
        <p:nvSpPr>
          <p:cNvPr id="232" name="Spacing rules"/>
          <p:cNvSpPr txBox="1"/>
          <p:nvPr/>
        </p:nvSpPr>
        <p:spPr>
          <a:xfrm>
            <a:off x="8229600" y="5212080"/>
            <a:ext cx="3383280" cy="822960"/>
          </a:xfrm>
          <a:prstGeom prst="rect">
            <a:avLst/>
          </a:prstGeom>
          <a:noFill/>
          <a:ln>
            <a:noFill/>
          </a:ln>
        </p:spPr>
        <p:txBody>
          <a:bodyPr wrap="square" lIns="0" tIns="0" rIns="0" bIns="0" anchor="t" rtlCol="0">
            <a:noAutofit/>
          </a:bodyPr>
          <a:lstStyle/>
          <a:p>
            <a:pPr algn="l">
              <a:lnSpc>
                <a:spcPct val="120000"/>
              </a:lnSpc>
              <a:buNone/>
            </a:pPr>
            <a:r>
              <a:rPr lang="en-GB" sz="1000" b="0" dirty="0">
                <a:solidFill>
                  <a:srgbClr val="D1D5DB"/>
                </a:solidFill>
                <a:latin typeface="+mn-lt"/>
              </a:rPr>
              <a:t>Margins 0.6", gaps 0.3". Cards: #121216, 1 pt #1F1F26 border, rounded corners, soft shadow. Charts: lit bars with a glow in their own colour.</a:t>
            </a:r>
          </a:p>
        </p:txBody>
      </p:sp>
      <p:sp>
        <p:nvSpPr>
          <p:cNvPr id="235" name="Slide number 235"/>
          <p:cNvSpPr>
            <a:spLocks noGrp="1"/>
          </p:cNvSpPr>
          <p:nvPr>
            <p:ph type="sldNum" sz="quarter" idx="12"/>
          </p:nvPr>
        </p:nvSpPr>
        <p:spPr>
          <a:xfrm>
            <a:off x="10545775" y="6355080"/>
            <a:ext cx="1097280" cy="228600"/>
          </a:xfrm>
          <a:prstGeom prst="rect">
            <a:avLst/>
          </a:prstGeom>
        </p:spPr>
        <p:txBody>
          <a:bodyPr/>
          <a:lstStyle/>
          <a:p>
            <a:fld id="{B6F15528-21DE-4FAA-801E-634DDDAF4B2B}" type="slidenum">
              <a:rPr lang="en-GB"/>
              <a:t>‹#›</a:t>
            </a:fld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6" name="body 236"/>
          <p:cNvSpPr>
            <a:spLocks noGrp="1"/>
          </p:cNvSpPr>
          <p:nvPr>
            <p:ph type="body" idx="10"/>
          </p:nvPr>
        </p:nvSpPr>
        <p:spPr>
          <a:xfrm>
            <a:off x="548640" y="1874520"/>
            <a:ext cx="8229600" cy="27432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Contact</a:t>
            </a:r>
          </a:p>
        </p:txBody>
      </p:sp>
      <p:sp>
        <p:nvSpPr>
          <p:cNvPr id="237" name="title 237"/>
          <p:cNvSpPr>
            <a:spLocks noGrp="1"/>
          </p:cNvSpPr>
          <p:nvPr>
            <p:ph type="title"/>
          </p:nvPr>
        </p:nvSpPr>
        <p:spPr>
          <a:xfrm>
            <a:off x="548640" y="2240280"/>
            <a:ext cx="10241280" cy="146304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Let’s talk</a:t>
            </a:r>
          </a:p>
        </p:txBody>
      </p:sp>
      <p:sp>
        <p:nvSpPr>
          <p:cNvPr id="238" name="body 238"/>
          <p:cNvSpPr>
            <a:spLocks noGrp="1"/>
          </p:cNvSpPr>
          <p:nvPr>
            <p:ph type="body" idx="1"/>
          </p:nvPr>
        </p:nvSpPr>
        <p:spPr>
          <a:xfrm>
            <a:off x="548640" y="3931920"/>
            <a:ext cx="6583680" cy="1097280"/>
          </a:xfrm>
          <a:prstGeom prst="rect">
            <a:avLst/>
          </a:prstGeom>
        </p:spPr>
        <p:txBody>
          <a:bodyPr/>
          <a:lstStyle/>
          <a:p>
            <a:r>
              <a:rPr lang="en-GB" dirty="0"/>
              <a:t>info@cinemataztic.com</a:t>
            </a:r>
          </a:p>
          <a:p>
            <a:r>
              <a:rPr lang="en-GB" dirty="0"/>
              <a:t>+45 5358 7129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Cinemataztic">
  <a:themeElements>
    <a:clrScheme name="Cinemataztic">
      <a:dk1>
        <a:srgbClr val="0A0A0C"/>
      </a:dk1>
      <a:lt1>
        <a:srgbClr val="FFFFFF"/>
      </a:lt1>
      <a:dk2>
        <a:srgbClr val="121216"/>
      </a:dk2>
      <a:lt2>
        <a:srgbClr val="D1D5DB"/>
      </a:lt2>
      <a:accent1>
        <a:srgbClr val="3DC0C8"/>
      </a:accent1>
      <a:accent2>
        <a:srgbClr val="F869B9"/>
      </a:accent2>
      <a:accent3>
        <a:srgbClr val="6CEEC4"/>
      </a:accent3>
      <a:accent4>
        <a:srgbClr val="FEA917"/>
      </a:accent4>
      <a:accent5>
        <a:srgbClr val="FECE00"/>
      </a:accent5>
      <a:accent6>
        <a:srgbClr val="9CA3AF"/>
      </a:accent6>
      <a:hlink>
        <a:srgbClr val="3DC0C8"/>
      </a:hlink>
      <a:folHlink>
        <a:srgbClr val="F869B9"/>
      </a:folHlink>
    </a:clrScheme>
    <a:fontScheme name="Cinemataztic">
      <a:majorFont>
        <a:latin typeface="Arial Black"/>
        <a:ea typeface=""/>
        <a:cs typeface=""/>
      </a:majorFont>
      <a:minorFont>
        <a:latin typeface="Arial"/>
        <a:ea typeface=""/>
        <a:cs typeface=""/>
      </a:minorFont>
    </a:fontScheme>
    <a:fmtScheme name="Cinemataztic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9525">
          <a:solidFill>
            <a:schemeClr val="phClr"/>
          </a:solidFill>
        </a:ln>
        <a:ln w="12700">
          <a:solidFill>
            <a:schemeClr val="phClr"/>
          </a:solidFill>
        </a:ln>
        <a:ln w="19050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304800" dist="127000" dir="5400000" algn="t" rotWithShape="0">
              <a:srgbClr val="000000">
                <a:alpha val="55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>
  <Application>Microsoft Office PowerPoint</Application>
  <Slides>9</Slides>
  <Company>Cinemataztic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title>Cinemataztic template</dc:title>
  <dc:creator>Cinemataztic</dc:creator>
</cp:coreProperties>
</file>